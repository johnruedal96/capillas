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76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9AA4D"/>
    <a:srgbClr val="252E3C"/>
    <a:srgbClr val="343A3E"/>
    <a:srgbClr val="18263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60"/>
    <p:restoredTop sz="94664"/>
  </p:normalViewPr>
  <p:slideViewPr>
    <p:cSldViewPr snapToGrid="0">
      <p:cViewPr varScale="1">
        <p:scale>
          <a:sx n="149" d="100"/>
          <a:sy n="149" d="100"/>
        </p:scale>
        <p:origin x="192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85167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94121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03278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3529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6/26/26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34158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6/26/26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29508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6/26/26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63881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3915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B61BEF0D-F0BB-DE4B-95CE-6DB70DBA9567}" type="datetimeFigureOut">
              <a:rPr lang="en-US" smtClean="0"/>
              <a:pPr/>
              <a:t>6/26/26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02309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18602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32786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99528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68210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MX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62898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MX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60517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2929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23388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B61BEF0D-F0BB-DE4B-95CE-6DB70DBA9567}" type="datetimeFigureOut">
              <a:rPr lang="en-US" smtClean="0"/>
              <a:pPr/>
              <a:t>6/26/26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676996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77" r:id="rId1"/>
    <p:sldLayoutId id="2147483778" r:id="rId2"/>
    <p:sldLayoutId id="2147483779" r:id="rId3"/>
    <p:sldLayoutId id="2147483780" r:id="rId4"/>
    <p:sldLayoutId id="2147483781" r:id="rId5"/>
    <p:sldLayoutId id="2147483782" r:id="rId6"/>
    <p:sldLayoutId id="2147483783" r:id="rId7"/>
    <p:sldLayoutId id="2147483784" r:id="rId8"/>
    <p:sldLayoutId id="2147483785" r:id="rId9"/>
    <p:sldLayoutId id="2147483786" r:id="rId10"/>
    <p:sldLayoutId id="2147483787" r:id="rId11"/>
    <p:sldLayoutId id="2147483788" r:id="rId12"/>
    <p:sldLayoutId id="2147483789" r:id="rId13"/>
    <p:sldLayoutId id="2147483790" r:id="rId14"/>
    <p:sldLayoutId id="2147483791" r:id="rId15"/>
    <p:sldLayoutId id="2147483792" r:id="rId16"/>
    <p:sldLayoutId id="2147483793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26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8799BA-93A3-6B5D-4FE3-7A25A442968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lang="es-CO" b="1" dirty="0">
                <a:effectLst/>
              </a:rPr>
              <a:t>TECNOLOGÍA</a:t>
            </a:r>
            <a:br>
              <a:rPr lang="es-CO" b="1" dirty="0">
                <a:effectLst/>
              </a:rPr>
            </a:br>
            <a:r>
              <a:rPr lang="es-CO" b="1" dirty="0">
                <a:solidFill>
                  <a:srgbClr val="C9AA4D"/>
                </a:solidFill>
                <a:effectLst/>
              </a:rPr>
              <a:t>CON PROPÓSITO</a:t>
            </a:r>
            <a:endParaRPr lang="es-CO" b="1" dirty="0">
              <a:solidFill>
                <a:srgbClr val="C9AA4D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7A46737-C55F-768E-8B83-282AEE99DE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412335"/>
          </a:xfrm>
        </p:spPr>
        <p:txBody>
          <a:bodyPr>
            <a:normAutofit/>
          </a:bodyPr>
          <a:lstStyle/>
          <a:p>
            <a:pPr algn="l"/>
            <a:r>
              <a:rPr lang="es-CO" b="1" cap="all" dirty="0">
                <a:solidFill>
                  <a:srgbClr val="C9AA4D"/>
                </a:solidFill>
                <a:effectLst/>
              </a:rPr>
              <a:t>ASESOR COMERCIAL AUMENTADO CON IA</a:t>
            </a:r>
            <a:endParaRPr lang="es-CO" b="1" dirty="0">
              <a:solidFill>
                <a:srgbClr val="C9AA4D"/>
              </a:solidFill>
            </a:endParaRPr>
          </a:p>
        </p:txBody>
      </p:sp>
      <p:sp>
        <p:nvSpPr>
          <p:cNvPr id="4" name="Subtítulo 2">
            <a:extLst>
              <a:ext uri="{FF2B5EF4-FFF2-40B4-BE49-F238E27FC236}">
                <a16:creationId xmlns:a16="http://schemas.microsoft.com/office/drawing/2014/main" id="{2EA5AB79-86E3-2748-23EF-7BDAF481DB14}"/>
              </a:ext>
            </a:extLst>
          </p:cNvPr>
          <p:cNvSpPr txBox="1">
            <a:spLocks/>
          </p:cNvSpPr>
          <p:nvPr/>
        </p:nvSpPr>
        <p:spPr>
          <a:xfrm>
            <a:off x="1764766" y="4374734"/>
            <a:ext cx="8676222" cy="412335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62500" lnSpcReduction="20000"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21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8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6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4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4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CO" dirty="0">
                <a:effectLst/>
              </a:rPr>
              <a:t>IA que potencia tu equipo -- sin reemplazar</a:t>
            </a:r>
            <a:br>
              <a:rPr lang="es-CO" dirty="0"/>
            </a:br>
            <a:r>
              <a:rPr lang="es-CO" dirty="0">
                <a:effectLst/>
              </a:rPr>
              <a:t>lo más valioso: la conversación humana.</a:t>
            </a:r>
            <a:endParaRPr lang="es-CO" b="1" dirty="0">
              <a:solidFill>
                <a:srgbClr val="C9AA4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17539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26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F71328-1422-08C3-425F-4E2322B7A0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647" y="893400"/>
            <a:ext cx="9905998" cy="770909"/>
          </a:xfrm>
        </p:spPr>
        <p:txBody>
          <a:bodyPr/>
          <a:lstStyle/>
          <a:p>
            <a:r>
              <a:rPr lang="es-CO" b="1" dirty="0">
                <a:effectLst/>
              </a:rPr>
              <a:t>DOS CANALES, </a:t>
            </a:r>
            <a:r>
              <a:rPr lang="es-CO" b="1" dirty="0">
                <a:solidFill>
                  <a:srgbClr val="C9AA4D"/>
                </a:solidFill>
                <a:effectLst/>
              </a:rPr>
              <a:t>UN SOLO CEREBRO</a:t>
            </a:r>
            <a:endParaRPr lang="es-CO" b="1" dirty="0">
              <a:solidFill>
                <a:srgbClr val="C9AA4D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968B6BA-CBCC-5770-CE8F-72566ED6CB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7143" y="2374845"/>
            <a:ext cx="5202965" cy="770909"/>
          </a:xfrm>
          <a:prstGeom prst="roundRect">
            <a:avLst/>
          </a:prstGeom>
          <a:solidFill>
            <a:srgbClr val="252E3C"/>
          </a:solidFill>
          <a:ln>
            <a:solidFill>
              <a:srgbClr val="343A3E"/>
            </a:solidFill>
          </a:ln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s-CO" b="1" cap="all" dirty="0">
                <a:solidFill>
                  <a:srgbClr val="C9AA4D"/>
                </a:solidFill>
                <a:effectLst/>
              </a:rPr>
              <a:t>CHAT COMERCIAL</a:t>
            </a:r>
            <a:br>
              <a:rPr lang="es-CO" b="1" cap="all" dirty="0">
                <a:solidFill>
                  <a:srgbClr val="C9AA4D"/>
                </a:solidFill>
                <a:effectLst/>
              </a:rPr>
            </a:br>
            <a:br>
              <a:rPr lang="es-CO" b="1" cap="all" dirty="0">
                <a:solidFill>
                  <a:srgbClr val="C9AA4D"/>
                </a:solidFill>
                <a:effectLst/>
              </a:rPr>
            </a:br>
            <a:r>
              <a:rPr lang="es-CO" dirty="0">
                <a:effectLst/>
              </a:rPr>
              <a:t>El asesor abre el widget y conversa con la IA. Obtiene planes, argumentos y manejo de objeciones al instante.</a:t>
            </a:r>
            <a:endParaRPr lang="es-CO" dirty="0">
              <a:solidFill>
                <a:srgbClr val="C9AA4D"/>
              </a:solidFill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BC4D679-2680-4AD7-A837-579E993EBB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647" y="1947555"/>
            <a:ext cx="6225062" cy="2962890"/>
          </a:xfrm>
          <a:prstGeom prst="rect">
            <a:avLst/>
          </a:prstGeom>
        </p:spPr>
      </p:pic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94AB0330-6F8D-879F-E47E-351C5C8DA799}"/>
              </a:ext>
            </a:extLst>
          </p:cNvPr>
          <p:cNvSpPr txBox="1">
            <a:spLocks/>
          </p:cNvSpPr>
          <p:nvPr/>
        </p:nvSpPr>
        <p:spPr>
          <a:xfrm>
            <a:off x="6667143" y="3429000"/>
            <a:ext cx="5202965" cy="770909"/>
          </a:xfrm>
          <a:prstGeom prst="roundRect">
            <a:avLst/>
          </a:prstGeom>
          <a:solidFill>
            <a:srgbClr val="252E3C"/>
          </a:solidFill>
          <a:ln>
            <a:solidFill>
              <a:srgbClr val="343A3E"/>
            </a:solidFill>
          </a:ln>
        </p:spPr>
        <p:txBody>
          <a:bodyPr vert="horz" lIns="91440" tIns="45720" rIns="91440" bIns="45720" rtlCol="0" anchor="ctr">
            <a:normAutofit fontScale="55000" lnSpcReduction="20000"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  <a:defRPr sz="20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  <a:defRPr sz="18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  <a:defRPr sz="16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  <a:defRPr sz="14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  <a:defRPr sz="14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CO" b="1" cap="all" dirty="0">
                <a:solidFill>
                  <a:srgbClr val="C9AA4D"/>
                </a:solidFill>
                <a:effectLst/>
              </a:rPr>
              <a:t>PANEL DE GESTIÓN</a:t>
            </a:r>
            <a:br>
              <a:rPr lang="es-CO" b="1" cap="all" dirty="0">
                <a:solidFill>
                  <a:srgbClr val="C9AA4D"/>
                </a:solidFill>
                <a:effectLst/>
              </a:rPr>
            </a:br>
            <a:br>
              <a:rPr lang="es-CO" b="1" cap="all" dirty="0">
                <a:solidFill>
                  <a:srgbClr val="C9AA4D"/>
                </a:solidFill>
                <a:effectLst/>
              </a:rPr>
            </a:br>
            <a:r>
              <a:rPr lang="es-CO" dirty="0">
                <a:effectLst/>
              </a:rPr>
              <a:t>El equipo operativo sube documentos. El sistema los procesa solo y la IA aprende al instante.</a:t>
            </a:r>
            <a:endParaRPr lang="es-CO" dirty="0">
              <a:solidFill>
                <a:srgbClr val="C9AA4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834935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lla">
  <a:themeElements>
    <a:clrScheme name="Malla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alla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alla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Mesh</Template>
  <TotalTime>0</TotalTime>
  <Words>81</Words>
  <Application>Microsoft Macintosh PowerPoint</Application>
  <PresentationFormat>Panorámica</PresentationFormat>
  <Paragraphs>6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5" baseType="lpstr">
      <vt:lpstr>Arial</vt:lpstr>
      <vt:lpstr>Century Gothic</vt:lpstr>
      <vt:lpstr>Malla</vt:lpstr>
      <vt:lpstr>TECNOLOGÍA CON PROPÓSITO</vt:lpstr>
      <vt:lpstr>DOS CANALES, UN SOLO CEREBRO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Rueda Lucuara, John Anderson</dc:creator>
  <cp:lastModifiedBy>Rueda Lucuara, John Anderson</cp:lastModifiedBy>
  <cp:revision>1</cp:revision>
  <dcterms:created xsi:type="dcterms:W3CDTF">2026-06-27T00:03:34Z</dcterms:created>
  <dcterms:modified xsi:type="dcterms:W3CDTF">2026-06-27T00:18:23Z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82c6a86-56a5-4c89-a486-a9664f1faf4b_Enabled">
    <vt:lpwstr>true</vt:lpwstr>
  </property>
  <property fmtid="{D5CDD505-2E9C-101B-9397-08002B2CF9AE}" pid="3" name="MSIP_Label_782c6a86-56a5-4c89-a486-a9664f1faf4b_SetDate">
    <vt:lpwstr>2026-06-27T00:18:22Z</vt:lpwstr>
  </property>
  <property fmtid="{D5CDD505-2E9C-101B-9397-08002B2CF9AE}" pid="4" name="MSIP_Label_782c6a86-56a5-4c89-a486-a9664f1faf4b_Method">
    <vt:lpwstr>Standard</vt:lpwstr>
  </property>
  <property fmtid="{D5CDD505-2E9C-101B-9397-08002B2CF9AE}" pid="5" name="MSIP_Label_782c6a86-56a5-4c89-a486-a9664f1faf4b_Name">
    <vt:lpwstr>Corporativa BdB</vt:lpwstr>
  </property>
  <property fmtid="{D5CDD505-2E9C-101B-9397-08002B2CF9AE}" pid="6" name="MSIP_Label_782c6a86-56a5-4c89-a486-a9664f1faf4b_SiteId">
    <vt:lpwstr>daa4d0ab-0563-4108-9916-441c45c84ae9</vt:lpwstr>
  </property>
  <property fmtid="{D5CDD505-2E9C-101B-9397-08002B2CF9AE}" pid="7" name="MSIP_Label_782c6a86-56a5-4c89-a486-a9664f1faf4b_ActionId">
    <vt:lpwstr>c80030da-ee7b-401d-bb70-f5e18baf991e</vt:lpwstr>
  </property>
  <property fmtid="{D5CDD505-2E9C-101B-9397-08002B2CF9AE}" pid="8" name="MSIP_Label_782c6a86-56a5-4c89-a486-a9664f1faf4b_ContentBits">
    <vt:lpwstr>0</vt:lpwstr>
  </property>
  <property fmtid="{D5CDD505-2E9C-101B-9397-08002B2CF9AE}" pid="9" name="MSIP_Label_782c6a86-56a5-4c89-a486-a9664f1faf4b_Tag">
    <vt:lpwstr>50, 3, 0, 1</vt:lpwstr>
  </property>
</Properties>
</file>