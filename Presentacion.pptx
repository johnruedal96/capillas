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76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2" r:id="rId9"/>
    <p:sldId id="263" r:id="rId10"/>
    <p:sldId id="264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A9A7"/>
    <a:srgbClr val="797C75"/>
    <a:srgbClr val="C9A94E"/>
    <a:srgbClr val="5B626B"/>
    <a:srgbClr val="E85050"/>
    <a:srgbClr val="525663"/>
    <a:srgbClr val="6D7366"/>
    <a:srgbClr val="7AB07E"/>
    <a:srgbClr val="504E41"/>
    <a:srgbClr val="5053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94664"/>
  </p:normalViewPr>
  <p:slideViewPr>
    <p:cSldViewPr snapToGrid="0">
      <p:cViewPr varScale="1">
        <p:scale>
          <a:sx n="105" d="100"/>
          <a:sy n="105" d="100"/>
        </p:scale>
        <p:origin x="86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5013F1-B25D-46EE-845B-042740B41749}" type="datetimeFigureOut">
              <a:rPr lang="es-CO" smtClean="0"/>
              <a:t>27/06/2026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65B897-6EAC-4752-83BC-FC482060016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755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5B897-6EAC-4752-83BC-FC4820600163}" type="slidenum">
              <a:rPr lang="es-CO" smtClean="0"/>
              <a:t>6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918899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5B897-6EAC-4752-83BC-FC4820600163}" type="slidenum">
              <a:rPr lang="es-CO" smtClean="0"/>
              <a:t>7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306816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5B897-6EAC-4752-83BC-FC4820600163}" type="slidenum">
              <a:rPr lang="es-CO" smtClean="0"/>
              <a:t>8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83796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5B897-6EAC-4752-83BC-FC4820600163}" type="slidenum">
              <a:rPr lang="es-CO" smtClean="0"/>
              <a:t>9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86332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5B897-6EAC-4752-83BC-FC4820600163}" type="slidenum">
              <a:rPr lang="es-CO" smtClean="0"/>
              <a:t>10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099577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5B897-6EAC-4752-83BC-FC4820600163}" type="slidenum">
              <a:rPr lang="es-CO" smtClean="0"/>
              <a:t>11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019267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5B897-6EAC-4752-83BC-FC4820600163}" type="slidenum">
              <a:rPr lang="es-CO" smtClean="0"/>
              <a:t>12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20226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5B897-6EAC-4752-83BC-FC4820600163}" type="slidenum">
              <a:rPr lang="es-CO" smtClean="0"/>
              <a:t>13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352221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5B897-6EAC-4752-83BC-FC4820600163}" type="slidenum">
              <a:rPr lang="es-CO" smtClean="0"/>
              <a:t>14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92570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8516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9412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0327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352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3415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950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6388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391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0230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860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2786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9528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68210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2898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60517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2929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3388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6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smtClean="0"/>
              <a:pPr/>
              <a:t>6/27/2026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76996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7" r:id="rId1"/>
    <p:sldLayoutId id="2147483778" r:id="rId2"/>
    <p:sldLayoutId id="2147483779" r:id="rId3"/>
    <p:sldLayoutId id="2147483780" r:id="rId4"/>
    <p:sldLayoutId id="2147483781" r:id="rId5"/>
    <p:sldLayoutId id="2147483782" r:id="rId6"/>
    <p:sldLayoutId id="2147483783" r:id="rId7"/>
    <p:sldLayoutId id="2147483784" r:id="rId8"/>
    <p:sldLayoutId id="2147483785" r:id="rId9"/>
    <p:sldLayoutId id="2147483786" r:id="rId10"/>
    <p:sldLayoutId id="2147483787" r:id="rId11"/>
    <p:sldLayoutId id="2147483788" r:id="rId12"/>
    <p:sldLayoutId id="2147483789" r:id="rId13"/>
    <p:sldLayoutId id="2147483790" r:id="rId14"/>
    <p:sldLayoutId id="2147483791" r:id="rId15"/>
    <p:sldLayoutId id="2147483792" r:id="rId16"/>
    <p:sldLayoutId id="214748379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8799BA-93A3-6B5D-4FE3-7A25A44296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s-CO" b="1" dirty="0">
                <a:effectLst/>
              </a:rPr>
              <a:t>TECNOLOGÍA</a:t>
            </a:r>
            <a:br>
              <a:rPr lang="es-CO" b="1" dirty="0">
                <a:effectLst/>
              </a:rPr>
            </a:br>
            <a:r>
              <a:rPr lang="es-CO" b="1" dirty="0">
                <a:solidFill>
                  <a:srgbClr val="C9AA4D"/>
                </a:solidFill>
                <a:effectLst/>
              </a:rPr>
              <a:t>CON PROPÓSITO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7A46737-C55F-768E-8B83-282AEE99D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412335"/>
          </a:xfrm>
        </p:spPr>
        <p:txBody>
          <a:bodyPr>
            <a:normAutofit/>
          </a:bodyPr>
          <a:lstStyle/>
          <a:p>
            <a:pPr algn="l"/>
            <a:r>
              <a:rPr lang="es-CO" b="1" cap="all" dirty="0">
                <a:solidFill>
                  <a:srgbClr val="C9AA4D"/>
                </a:solidFill>
                <a:effectLst/>
              </a:rPr>
              <a:t>ASESOR COMERCIAL AUMENTADO CON IA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9CB72411-2759-0829-55D0-A4291A362B65}"/>
              </a:ext>
            </a:extLst>
          </p:cNvPr>
          <p:cNvSpPr txBox="1">
            <a:spLocks/>
          </p:cNvSpPr>
          <p:nvPr/>
        </p:nvSpPr>
        <p:spPr>
          <a:xfrm>
            <a:off x="1757889" y="4374734"/>
            <a:ext cx="8676222" cy="56193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62500" lnSpcReduction="20000"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21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8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6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4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4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None/>
              <a:defRPr sz="1200" kern="1200" cap="small">
                <a:solidFill>
                  <a:schemeClr val="tx1">
                    <a:tint val="75000"/>
                  </a:schemeClr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MX" cap="none" dirty="0">
                <a:solidFill>
                  <a:srgbClr val="ACA9A7"/>
                </a:solidFill>
                <a:effectLst/>
              </a:rPr>
              <a:t>IA que potencia tu equipo — sin reemplazar</a:t>
            </a:r>
          </a:p>
          <a:p>
            <a:pPr algn="l"/>
            <a:r>
              <a:rPr lang="es-MX" cap="none" dirty="0">
                <a:solidFill>
                  <a:srgbClr val="ACA9A7"/>
                </a:solidFill>
                <a:effectLst/>
              </a:rPr>
              <a:t>lo más valioso: la conversación humana.</a:t>
            </a:r>
            <a:endParaRPr lang="es-CO" dirty="0">
              <a:solidFill>
                <a:srgbClr val="ACA9A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17539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9905998" cy="770909"/>
          </a:xfrm>
        </p:spPr>
        <p:txBody>
          <a:bodyPr/>
          <a:lstStyle/>
          <a:p>
            <a:r>
              <a:rPr lang="es-CO" b="1" dirty="0">
                <a:effectLst/>
              </a:rPr>
              <a:t>DOS CANALES, </a:t>
            </a:r>
            <a:r>
              <a:rPr lang="es-CO" b="1" dirty="0">
                <a:solidFill>
                  <a:srgbClr val="C9AA4D"/>
                </a:solidFill>
                <a:effectLst/>
              </a:rPr>
              <a:t>UN SOLO CEREBRO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68B6BA-CBCC-5770-CE8F-72566ED6C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548581"/>
            <a:ext cx="5202965" cy="68839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s-CO" sz="1400" b="1" cap="all" dirty="0">
                <a:solidFill>
                  <a:srgbClr val="C9AA4D"/>
                </a:solidFill>
                <a:effectLst/>
              </a:rPr>
              <a:t>CHAT COMERCIAL</a:t>
            </a:r>
          </a:p>
          <a:p>
            <a:pPr marL="0" indent="0">
              <a:buNone/>
            </a:pPr>
            <a:r>
              <a:rPr lang="es-MX" sz="1300" cap="none" dirty="0">
                <a:solidFill>
                  <a:srgbClr val="ACA9A7"/>
                </a:solidFill>
                <a:effectLst/>
              </a:rPr>
              <a:t>El asesor abre el widget y conversa con la IA. Obtiene planes, argumentos y manejo de objeciones al instante.</a:t>
            </a:r>
            <a:endParaRPr lang="es-CO" sz="1300" cap="all" dirty="0">
              <a:solidFill>
                <a:srgbClr val="ACA9A7"/>
              </a:solidFill>
              <a:effectLst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94AB0330-6F8D-879F-E47E-351C5C8DA799}"/>
              </a:ext>
            </a:extLst>
          </p:cNvPr>
          <p:cNvSpPr txBox="1">
            <a:spLocks/>
          </p:cNvSpPr>
          <p:nvPr/>
        </p:nvSpPr>
        <p:spPr>
          <a:xfrm>
            <a:off x="6096000" y="3602736"/>
            <a:ext cx="5202965" cy="687600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CO" sz="2200" b="1" cap="all" dirty="0">
                <a:solidFill>
                  <a:srgbClr val="C9AA4D"/>
                </a:solidFill>
                <a:effectLst/>
              </a:rPr>
              <a:t>PANEL DE GESTIÓN</a:t>
            </a:r>
          </a:p>
          <a:p>
            <a:pPr marL="0" indent="0">
              <a:buNone/>
            </a:pPr>
            <a:r>
              <a:rPr lang="es-MX" cap="none" dirty="0">
                <a:solidFill>
                  <a:srgbClr val="ACA9A7"/>
                </a:solidFill>
                <a:effectLst/>
              </a:rPr>
              <a:t>El equipo operativo sube documentos. El sistema los procesa solo y la IA aprende al instante.</a:t>
            </a:r>
            <a:endParaRPr lang="es-CO" dirty="0">
              <a:solidFill>
                <a:srgbClr val="ACA9A7"/>
              </a:solidFill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2D6861E5-4A10-3869-D4A7-D8CD608C53EF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1853033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dirty="0">
                <a:solidFill>
                  <a:srgbClr val="C9AA4D"/>
                </a:solidFill>
                <a:effectLst/>
              </a:rPr>
              <a:t>ARQUITECTURA</a:t>
            </a:r>
            <a:endParaRPr lang="es-CO" sz="2400" b="1" dirty="0">
              <a:solidFill>
                <a:srgbClr val="C9AA4D"/>
              </a:solidFill>
            </a:endParaRP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FAD87627-ADC7-8DE7-49A0-0BAA2FD6A58D}"/>
              </a:ext>
            </a:extLst>
          </p:cNvPr>
          <p:cNvGrpSpPr/>
          <p:nvPr/>
        </p:nvGrpSpPr>
        <p:grpSpPr>
          <a:xfrm>
            <a:off x="817817" y="2159211"/>
            <a:ext cx="4942903" cy="2513373"/>
            <a:chOff x="817817" y="2159211"/>
            <a:chExt cx="4942903" cy="2513373"/>
          </a:xfrm>
        </p:grpSpPr>
        <p:sp>
          <p:nvSpPr>
            <p:cNvPr id="13" name="Marcador de contenido 2">
              <a:extLst>
                <a:ext uri="{FF2B5EF4-FFF2-40B4-BE49-F238E27FC236}">
                  <a16:creationId xmlns:a16="http://schemas.microsoft.com/office/drawing/2014/main" id="{006C9CF5-9210-62FD-5225-AB3CED4E3899}"/>
                </a:ext>
              </a:extLst>
            </p:cNvPr>
            <p:cNvSpPr txBox="1">
              <a:spLocks/>
            </p:cNvSpPr>
            <p:nvPr/>
          </p:nvSpPr>
          <p:spPr>
            <a:xfrm>
              <a:off x="817817" y="2159211"/>
              <a:ext cx="4942903" cy="2513373"/>
            </a:xfrm>
            <a:prstGeom prst="roundRect">
              <a:avLst>
                <a:gd name="adj" fmla="val 4035"/>
              </a:avLst>
            </a:prstGeom>
            <a:solidFill>
              <a:srgbClr val="252E3C">
                <a:alpha val="50000"/>
              </a:srgbClr>
            </a:solidFill>
            <a:ln>
              <a:solidFill>
                <a:srgbClr val="343A3E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857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20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8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2pPr>
              <a:lvl3pPr marL="12001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6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3pPr>
              <a:lvl4pPr marL="15430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4pPr>
              <a:lvl5pPr marL="20002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/>
                <a:buNone/>
              </a:pPr>
              <a:endParaRPr lang="es-CO" sz="3600" b="1" cap="none" dirty="0">
                <a:solidFill>
                  <a:srgbClr val="6D7366"/>
                </a:solidFill>
                <a:effectLst/>
              </a:endParaRPr>
            </a:p>
          </p:txBody>
        </p:sp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944B9D89-8569-3873-DB01-74972CE166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0113" y="2240530"/>
              <a:ext cx="4778311" cy="22580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7383493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9905998" cy="770909"/>
          </a:xfrm>
        </p:spPr>
        <p:txBody>
          <a:bodyPr/>
          <a:lstStyle/>
          <a:p>
            <a:r>
              <a:rPr lang="es-CO" b="1" dirty="0">
                <a:effectLst/>
              </a:rPr>
              <a:t>FORMAS DE </a:t>
            </a:r>
            <a:r>
              <a:rPr lang="es-CO" b="1" dirty="0">
                <a:solidFill>
                  <a:srgbClr val="C9AA4D"/>
                </a:solidFill>
                <a:effectLst/>
              </a:rPr>
              <a:t>IMPLEMENTARLO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68B6BA-CBCC-5770-CE8F-72566ED6C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11" y="2167749"/>
            <a:ext cx="5485233" cy="232195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s-MX" sz="2500" b="1" cap="all" dirty="0">
                <a:solidFill>
                  <a:srgbClr val="C9AA4D"/>
                </a:solidFill>
                <a:effectLst/>
              </a:rPr>
              <a:t>Opción 1 - Solo se conecta el widget</a:t>
            </a:r>
          </a:p>
          <a:p>
            <a:pPr marL="0" indent="0">
              <a:buNone/>
            </a:pPr>
            <a:endParaRPr lang="es-MX" sz="2500" b="1" cap="all" dirty="0">
              <a:solidFill>
                <a:srgbClr val="ACA9A7"/>
              </a:solidFill>
              <a:effectLst/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s-MX" sz="2500" cap="none" dirty="0">
                <a:solidFill>
                  <a:srgbClr val="ACA9A7"/>
                </a:solidFill>
                <a:effectLst/>
              </a:rPr>
              <a:t>Se usa la página web o sistema actual sin cambios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s-MX" sz="2500" cap="none" dirty="0">
                <a:solidFill>
                  <a:srgbClr val="ACA9A7"/>
                </a:solidFill>
                <a:effectLst/>
              </a:rPr>
              <a:t>Los asesores inician sesión como siempre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s-MX" sz="2500" cap="none" dirty="0">
                <a:solidFill>
                  <a:srgbClr val="ACA9A7"/>
                </a:solidFill>
                <a:effectLst/>
              </a:rPr>
              <a:t>Solo se agrega un pequeño código de integración</a:t>
            </a:r>
          </a:p>
          <a:p>
            <a:pPr>
              <a:buFont typeface="Wingdings" panose="05000000000000000000" pitchFamily="2" charset="2"/>
              <a:buChar char="ü"/>
            </a:pPr>
            <a:endParaRPr lang="es-CO" sz="2300" b="1" cap="all" dirty="0">
              <a:solidFill>
                <a:srgbClr val="C9AA4D"/>
              </a:solidFill>
              <a:effectLst/>
            </a:endParaRPr>
          </a:p>
          <a:p>
            <a:pPr marL="0" indent="0">
              <a:buNone/>
            </a:pPr>
            <a:r>
              <a:rPr lang="es-MX" sz="1900" b="1" cap="none" dirty="0">
                <a:solidFill>
                  <a:srgbClr val="C9AA4D"/>
                </a:solidFill>
                <a:effectLst/>
              </a:rPr>
              <a:t>⟶ Ideal si ya hay una plataforma digital</a:t>
            </a:r>
            <a:br>
              <a:rPr lang="es-CO" sz="2300" b="1" cap="all" dirty="0">
                <a:solidFill>
                  <a:srgbClr val="C9AA4D"/>
                </a:solidFill>
                <a:effectLst/>
              </a:rPr>
            </a:br>
            <a:br>
              <a:rPr lang="es-CO" b="1" cap="all" dirty="0">
                <a:solidFill>
                  <a:srgbClr val="C9AA4D"/>
                </a:solidFill>
                <a:effectLst/>
              </a:rPr>
            </a:br>
            <a:endParaRPr lang="es-CO" dirty="0">
              <a:solidFill>
                <a:srgbClr val="C9AA4D"/>
              </a:solidFill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94AB0330-6F8D-879F-E47E-351C5C8DA799}"/>
              </a:ext>
            </a:extLst>
          </p:cNvPr>
          <p:cNvSpPr txBox="1">
            <a:spLocks/>
          </p:cNvSpPr>
          <p:nvPr/>
        </p:nvSpPr>
        <p:spPr>
          <a:xfrm>
            <a:off x="6256861" y="2177514"/>
            <a:ext cx="5485232" cy="232195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s-MX" sz="1200" b="1" cap="all" dirty="0">
                <a:solidFill>
                  <a:srgbClr val="C9AA4D"/>
                </a:solidFill>
                <a:effectLst/>
              </a:rPr>
              <a:t>Opción 2 - Nosotros creamos la app</a:t>
            </a:r>
          </a:p>
          <a:p>
            <a:pPr marL="0" indent="0" algn="l">
              <a:buNone/>
            </a:pPr>
            <a:endParaRPr lang="es-MX" sz="1200" b="1" cap="all" dirty="0">
              <a:solidFill>
                <a:srgbClr val="C9AA4D"/>
              </a:solidFill>
              <a:effectLst/>
            </a:endParaRPr>
          </a:p>
          <a:p>
            <a:pPr algn="l">
              <a:spcBef>
                <a:spcPts val="24"/>
              </a:spcBef>
              <a:buFont typeface="Wingdings" panose="05000000000000000000" pitchFamily="2" charset="2"/>
              <a:buChar char="ü"/>
            </a:pPr>
            <a:r>
              <a:rPr lang="es-MX" sz="1200" cap="none" dirty="0">
                <a:solidFill>
                  <a:srgbClr val="ACA9A7"/>
                </a:solidFill>
                <a:effectLst/>
              </a:rPr>
              <a:t>Entregamos una app lista para usar</a:t>
            </a:r>
          </a:p>
          <a:p>
            <a:pPr algn="l">
              <a:spcBef>
                <a:spcPts val="24"/>
              </a:spcBef>
              <a:buFont typeface="Wingdings" panose="05000000000000000000" pitchFamily="2" charset="2"/>
              <a:buChar char="ü"/>
            </a:pPr>
            <a:r>
              <a:rPr lang="es-MX" sz="1200" cap="none" dirty="0">
                <a:solidFill>
                  <a:srgbClr val="ACA9A7"/>
                </a:solidFill>
                <a:effectLst/>
              </a:rPr>
              <a:t>Cada asesor tiene su usuario y contraseña</a:t>
            </a:r>
          </a:p>
          <a:p>
            <a:pPr algn="l">
              <a:spcBef>
                <a:spcPts val="24"/>
              </a:spcBef>
              <a:buFont typeface="Wingdings" panose="05000000000000000000" pitchFamily="2" charset="2"/>
              <a:buChar char="ü"/>
            </a:pPr>
            <a:r>
              <a:rPr lang="es-MX" sz="1200" cap="none" dirty="0">
                <a:solidFill>
                  <a:srgbClr val="ACA9A7"/>
                </a:solidFill>
                <a:effectLst/>
              </a:rPr>
              <a:t>Todo incluido: app, acceso y asistente IA</a:t>
            </a:r>
          </a:p>
          <a:p>
            <a:pPr algn="l">
              <a:buFont typeface="Wingdings" panose="05000000000000000000" pitchFamily="2" charset="2"/>
              <a:buChar char="ü"/>
            </a:pPr>
            <a:endParaRPr lang="es-MX" sz="1100" b="0" i="0" dirty="0">
              <a:solidFill>
                <a:srgbClr val="E8E0D4"/>
              </a:solidFill>
              <a:effectLst/>
            </a:endParaRPr>
          </a:p>
          <a:p>
            <a:pPr marL="0" indent="0">
              <a:buNone/>
            </a:pPr>
            <a:r>
              <a:rPr lang="es-MX" sz="900" b="1" cap="none" dirty="0">
                <a:solidFill>
                  <a:srgbClr val="C9AA4D"/>
                </a:solidFill>
                <a:effectLst/>
              </a:rPr>
              <a:t>⟶ Ideal si ya hay una plataforma digital</a:t>
            </a:r>
          </a:p>
          <a:p>
            <a:pPr marL="0" indent="0">
              <a:buNone/>
            </a:pPr>
            <a:endParaRPr lang="es-CO" sz="900" dirty="0">
              <a:solidFill>
                <a:srgbClr val="C9AA4D"/>
              </a:solidFill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1853033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dirty="0">
                <a:solidFill>
                  <a:srgbClr val="C9AA4D"/>
                </a:solidFill>
                <a:effectLst/>
                <a:cs typeface="Courier New" panose="02070309020205020404" pitchFamily="49" charset="0"/>
              </a:rPr>
              <a:t>Flexibilidad</a:t>
            </a:r>
            <a:endParaRPr lang="es-CO" sz="2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92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9905998" cy="770909"/>
          </a:xfrm>
        </p:spPr>
        <p:txBody>
          <a:bodyPr/>
          <a:lstStyle/>
          <a:p>
            <a:r>
              <a:rPr lang="es-CO" b="1" dirty="0">
                <a:effectLst/>
              </a:rPr>
              <a:t>COMUNICACIÓN </a:t>
            </a:r>
            <a:r>
              <a:rPr lang="es-CO" b="1" dirty="0">
                <a:solidFill>
                  <a:srgbClr val="C9AA4D"/>
                </a:solidFill>
                <a:effectLst/>
              </a:rPr>
              <a:t>BLINDADA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68B6BA-CBCC-5770-CE8F-72566ED6C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3046" y="3828709"/>
            <a:ext cx="8985907" cy="770909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600" b="1" cap="all" dirty="0">
                <a:solidFill>
                  <a:srgbClr val="C9AA4D"/>
                </a:solidFill>
                <a:effectLst/>
              </a:rPr>
              <a:t>Cifrado de punta a punta</a:t>
            </a:r>
          </a:p>
          <a:p>
            <a:pPr marL="0" indent="0">
              <a:buNone/>
            </a:pPr>
            <a:r>
              <a:rPr lang="es-MX" sz="1200" cap="all" dirty="0">
                <a:solidFill>
                  <a:srgbClr val="ACA9A7"/>
                </a:solidFill>
                <a:effectLst/>
              </a:rPr>
              <a:t>C</a:t>
            </a:r>
            <a:r>
              <a:rPr lang="es-MX" sz="1200" cap="none" dirty="0">
                <a:solidFill>
                  <a:srgbClr val="ACA9A7"/>
                </a:solidFill>
                <a:effectLst/>
              </a:rPr>
              <a:t>ada mensaje viaja cifrado. nadie puede leerlo ni modificarlo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1853033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dirty="0">
                <a:solidFill>
                  <a:srgbClr val="C9AA4D"/>
                </a:solidFill>
                <a:effectLst/>
                <a:cs typeface="Courier New" panose="02070309020205020404" pitchFamily="49" charset="0"/>
              </a:rPr>
              <a:t>PROTECCIÓN</a:t>
            </a:r>
            <a:endParaRPr lang="es-CO" sz="2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31880B67-ED4A-E9DF-8C55-5D529750ABB6}"/>
              </a:ext>
            </a:extLst>
          </p:cNvPr>
          <p:cNvSpPr txBox="1">
            <a:spLocks/>
          </p:cNvSpPr>
          <p:nvPr/>
        </p:nvSpPr>
        <p:spPr>
          <a:xfrm>
            <a:off x="1603046" y="4808236"/>
            <a:ext cx="8985907" cy="770909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MX" sz="1600" b="1" cap="all" dirty="0">
                <a:solidFill>
                  <a:srgbClr val="C9AA4D"/>
                </a:solidFill>
                <a:effectLst/>
              </a:rPr>
              <a:t>Detección automática</a:t>
            </a:r>
          </a:p>
          <a:p>
            <a:pPr marL="0" indent="0">
              <a:buFont typeface="Arial"/>
              <a:buNone/>
            </a:pPr>
            <a:r>
              <a:rPr lang="es-MX" sz="1200" cap="all" dirty="0">
                <a:solidFill>
                  <a:srgbClr val="ACA9A7"/>
                </a:solidFill>
                <a:effectLst/>
              </a:rPr>
              <a:t>S</a:t>
            </a:r>
            <a:r>
              <a:rPr lang="es-MX" sz="1200" cap="none" dirty="0">
                <a:solidFill>
                  <a:srgbClr val="ACA9A7"/>
                </a:solidFill>
                <a:effectLst/>
              </a:rPr>
              <a:t>i alguien intenta alterar un mensaje, el sistema lo detecta y lo rechaza automáticamente.</a:t>
            </a:r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6931A2A4-7FF7-0A19-2787-009BF6E24F49}"/>
              </a:ext>
            </a:extLst>
          </p:cNvPr>
          <p:cNvGrpSpPr/>
          <p:nvPr/>
        </p:nvGrpSpPr>
        <p:grpSpPr>
          <a:xfrm>
            <a:off x="1603046" y="1651680"/>
            <a:ext cx="8985907" cy="2064089"/>
            <a:chOff x="1603046" y="1651680"/>
            <a:chExt cx="8985907" cy="2064089"/>
          </a:xfrm>
        </p:grpSpPr>
        <p:sp>
          <p:nvSpPr>
            <p:cNvPr id="14" name="Marcador de contenido 2">
              <a:extLst>
                <a:ext uri="{FF2B5EF4-FFF2-40B4-BE49-F238E27FC236}">
                  <a16:creationId xmlns:a16="http://schemas.microsoft.com/office/drawing/2014/main" id="{2C78D329-9D31-7316-8EB0-88ADBAF437EF}"/>
                </a:ext>
              </a:extLst>
            </p:cNvPr>
            <p:cNvSpPr txBox="1">
              <a:spLocks/>
            </p:cNvSpPr>
            <p:nvPr/>
          </p:nvSpPr>
          <p:spPr>
            <a:xfrm>
              <a:off x="1603046" y="1651680"/>
              <a:ext cx="8985907" cy="2064089"/>
            </a:xfrm>
            <a:prstGeom prst="roundRect">
              <a:avLst>
                <a:gd name="adj" fmla="val 4035"/>
              </a:avLst>
            </a:prstGeom>
            <a:solidFill>
              <a:srgbClr val="252E3C">
                <a:alpha val="50000"/>
              </a:srgbClr>
            </a:solidFill>
            <a:ln>
              <a:solidFill>
                <a:srgbClr val="343A3E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857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20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8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2pPr>
              <a:lvl3pPr marL="12001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6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3pPr>
              <a:lvl4pPr marL="15430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4pPr>
              <a:lvl5pPr marL="20002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/>
                <a:buNone/>
              </a:pPr>
              <a:endParaRPr lang="es-CO" sz="3600" b="1" cap="none" dirty="0">
                <a:solidFill>
                  <a:srgbClr val="6D7366"/>
                </a:solidFill>
                <a:effectLst/>
              </a:endParaRPr>
            </a:p>
          </p:txBody>
        </p:sp>
        <p:pic>
          <p:nvPicPr>
            <p:cNvPr id="8194" name="Picture 2">
              <a:extLst>
                <a:ext uri="{FF2B5EF4-FFF2-40B4-BE49-F238E27FC236}">
                  <a16:creationId xmlns:a16="http://schemas.microsoft.com/office/drawing/2014/main" id="{ADF9DD9A-9D7A-2633-2A65-5C785AC8DC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49348" y="1702974"/>
              <a:ext cx="7693301" cy="19741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24061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9905998" cy="770909"/>
          </a:xfrm>
        </p:spPr>
        <p:txBody>
          <a:bodyPr/>
          <a:lstStyle/>
          <a:p>
            <a:r>
              <a:rPr lang="es-CO" b="1" dirty="0">
                <a:effectLst/>
              </a:rPr>
              <a:t>¿Servidores Físicos o </a:t>
            </a:r>
            <a:r>
              <a:rPr lang="es-CO" b="1" dirty="0">
                <a:solidFill>
                  <a:srgbClr val="C9AA4D"/>
                </a:solidFill>
                <a:effectLst/>
              </a:rPr>
              <a:t>nube?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68B6BA-CBCC-5770-CE8F-72566ED6C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253" y="3779094"/>
            <a:ext cx="5603554" cy="770909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s-MX" sz="1500" b="1" cap="all" dirty="0">
                <a:solidFill>
                  <a:srgbClr val="C9AA4D"/>
                </a:solidFill>
                <a:effectLst/>
              </a:rPr>
              <a:t>Con la nube no hay inversión inicial</a:t>
            </a:r>
          </a:p>
          <a:p>
            <a:pPr marL="0" indent="0">
              <a:buNone/>
            </a:pPr>
            <a:r>
              <a:rPr lang="es-CO" sz="1200" cap="all" dirty="0">
                <a:solidFill>
                  <a:srgbClr val="ACA9A7"/>
                </a:solidFill>
                <a:effectLst/>
              </a:rPr>
              <a:t>N</a:t>
            </a:r>
            <a:r>
              <a:rPr lang="es-CO" sz="1200" cap="none" dirty="0">
                <a:solidFill>
                  <a:srgbClr val="ACA9A7"/>
                </a:solidFill>
                <a:effectLst/>
              </a:rPr>
              <a:t>o se compran servidores, no se paga electricidad, no se contrata técnicos. se paga solo por los servicios que se usan cada mes.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dirty="0">
                <a:solidFill>
                  <a:srgbClr val="C9AA4D"/>
                </a:solidFill>
                <a:effectLst/>
                <a:cs typeface="Courier New" panose="02070309020205020404" pitchFamily="49" charset="0"/>
              </a:rPr>
              <a:t>INFRAESTRUCTURA</a:t>
            </a:r>
            <a:endParaRPr lang="es-CO" sz="2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31880B67-ED4A-E9DF-8C55-5D529750ABB6}"/>
              </a:ext>
            </a:extLst>
          </p:cNvPr>
          <p:cNvSpPr txBox="1">
            <a:spLocks/>
          </p:cNvSpPr>
          <p:nvPr/>
        </p:nvSpPr>
        <p:spPr>
          <a:xfrm>
            <a:off x="6096000" y="3779094"/>
            <a:ext cx="5734740" cy="770909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MX" sz="1500" b="1" cap="all" dirty="0">
                <a:solidFill>
                  <a:srgbClr val="C9AA4D"/>
                </a:solidFill>
                <a:effectLst/>
              </a:rPr>
              <a:t>Detección automática</a:t>
            </a:r>
          </a:p>
          <a:p>
            <a:pPr marL="0" indent="0">
              <a:buFont typeface="Arial"/>
              <a:buNone/>
            </a:pPr>
            <a:r>
              <a:rPr lang="es-CO" sz="1200" cap="all" dirty="0">
                <a:solidFill>
                  <a:srgbClr val="ACA9A7"/>
                </a:solidFill>
                <a:effectLst/>
              </a:rPr>
              <a:t>S</a:t>
            </a:r>
            <a:r>
              <a:rPr lang="es-MX" sz="1200" cap="none" dirty="0">
                <a:solidFill>
                  <a:srgbClr val="ACA9A7"/>
                </a:solidFill>
                <a:effectLst/>
              </a:rPr>
              <a:t>i alguien intenta alterar un mensaje, el sistema lo detecta y lo rechaza automáticamente.</a:t>
            </a:r>
          </a:p>
        </p:txBody>
      </p:sp>
      <p:grpSp>
        <p:nvGrpSpPr>
          <p:cNvPr id="107" name="Grupo 106">
            <a:extLst>
              <a:ext uri="{FF2B5EF4-FFF2-40B4-BE49-F238E27FC236}">
                <a16:creationId xmlns:a16="http://schemas.microsoft.com/office/drawing/2014/main" id="{2FF4CC2F-FD8E-834F-356A-96F3A6662F11}"/>
              </a:ext>
            </a:extLst>
          </p:cNvPr>
          <p:cNvGrpSpPr/>
          <p:nvPr/>
        </p:nvGrpSpPr>
        <p:grpSpPr>
          <a:xfrm>
            <a:off x="138438" y="1685909"/>
            <a:ext cx="5920369" cy="1841046"/>
            <a:chOff x="158647" y="1688997"/>
            <a:chExt cx="5455482" cy="1841046"/>
          </a:xfrm>
        </p:grpSpPr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4AC1014-9A88-A51B-0452-0720AFC0BC90}"/>
                </a:ext>
              </a:extLst>
            </p:cNvPr>
            <p:cNvSpPr txBox="1"/>
            <p:nvPr/>
          </p:nvSpPr>
          <p:spPr>
            <a:xfrm>
              <a:off x="158647" y="1923175"/>
              <a:ext cx="269767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i="0" dirty="0">
                  <a:effectLst/>
                </a:rPr>
                <a:t>Compra de equipos</a:t>
              </a:r>
              <a:endParaRPr lang="es-CO" sz="1000" dirty="0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808E39F9-EE6E-2171-0FAD-4520B913F282}"/>
                </a:ext>
              </a:extLst>
            </p:cNvPr>
            <p:cNvSpPr txBox="1"/>
            <p:nvPr/>
          </p:nvSpPr>
          <p:spPr>
            <a:xfrm>
              <a:off x="158648" y="2328360"/>
              <a:ext cx="259398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i="0" dirty="0">
                  <a:effectLst/>
                </a:rPr>
                <a:t>Mantenimiento técnico</a:t>
              </a:r>
              <a:endParaRPr lang="es-CO" sz="1000" dirty="0"/>
            </a:p>
          </p:txBody>
        </p:sp>
        <p:sp>
          <p:nvSpPr>
            <p:cNvPr id="7" name="Rectángulo: esquinas redondeadas 6">
              <a:extLst>
                <a:ext uri="{FF2B5EF4-FFF2-40B4-BE49-F238E27FC236}">
                  <a16:creationId xmlns:a16="http://schemas.microsoft.com/office/drawing/2014/main" id="{1896389E-E750-ECD1-525C-4B57067086CD}"/>
                </a:ext>
              </a:extLst>
            </p:cNvPr>
            <p:cNvSpPr/>
            <p:nvPr/>
          </p:nvSpPr>
          <p:spPr>
            <a:xfrm>
              <a:off x="256031" y="2137172"/>
              <a:ext cx="5148000" cy="158400"/>
            </a:xfrm>
            <a:prstGeom prst="roundRect">
              <a:avLst/>
            </a:prstGeom>
            <a:solidFill>
              <a:srgbClr val="C9A94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CO" dirty="0"/>
            </a:p>
          </p:txBody>
        </p:sp>
        <p:sp>
          <p:nvSpPr>
            <p:cNvPr id="6" name="Rectángulo: esquinas redondeadas 5">
              <a:extLst>
                <a:ext uri="{FF2B5EF4-FFF2-40B4-BE49-F238E27FC236}">
                  <a16:creationId xmlns:a16="http://schemas.microsoft.com/office/drawing/2014/main" id="{2979D681-83ED-FBC1-EA33-EA8BD51C8112}"/>
                </a:ext>
              </a:extLst>
            </p:cNvPr>
            <p:cNvSpPr/>
            <p:nvPr/>
          </p:nvSpPr>
          <p:spPr>
            <a:xfrm>
              <a:off x="256032" y="2140220"/>
              <a:ext cx="4680000" cy="158400"/>
            </a:xfrm>
            <a:prstGeom prst="roundRect">
              <a:avLst/>
            </a:prstGeom>
            <a:gradFill flip="none" rotWithShape="1">
              <a:gsLst>
                <a:gs pos="0">
                  <a:srgbClr val="C9A94E"/>
                </a:gs>
                <a:gs pos="100000">
                  <a:srgbClr val="C9A94E">
                    <a:alpha val="6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CO" sz="900" i="0" dirty="0">
                  <a:solidFill>
                    <a:srgbClr val="0A1628"/>
                  </a:solidFill>
                  <a:effectLst/>
                  <a:latin typeface="+mj-lt"/>
                </a:rPr>
                <a:t>Inversión inicial alta</a:t>
              </a:r>
              <a:endParaRPr lang="es-CO" sz="900" dirty="0">
                <a:latin typeface="+mj-lt"/>
              </a:endParaRP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5C5BDD68-1A30-7460-7D0C-9280FAE36FC8}"/>
                </a:ext>
              </a:extLst>
            </p:cNvPr>
            <p:cNvSpPr txBox="1"/>
            <p:nvPr/>
          </p:nvSpPr>
          <p:spPr>
            <a:xfrm>
              <a:off x="158647" y="1688997"/>
              <a:ext cx="2113213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1" i="0" cap="all" dirty="0">
                  <a:solidFill>
                    <a:srgbClr val="55503A"/>
                  </a:solidFill>
                  <a:effectLst/>
                </a:rPr>
                <a:t>Servidores</a:t>
              </a:r>
              <a:r>
                <a:rPr lang="es-CO" sz="1050" b="1" i="0" cap="all" dirty="0">
                  <a:solidFill>
                    <a:srgbClr val="55503A"/>
                  </a:solidFill>
                  <a:effectLst/>
                </a:rPr>
                <a:t> </a:t>
              </a:r>
              <a:r>
                <a:rPr lang="es-CO" sz="1000" b="1" i="0" cap="all" dirty="0">
                  <a:solidFill>
                    <a:srgbClr val="55503A"/>
                  </a:solidFill>
                  <a:effectLst/>
                </a:rPr>
                <a:t>tradicionales</a:t>
              </a:r>
              <a:endParaRPr lang="es-CO" sz="1050" dirty="0">
                <a:solidFill>
                  <a:srgbClr val="55503A"/>
                </a:solidFill>
              </a:endParaRP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C1582A11-8916-0701-6EF3-44DBCB1B813E}"/>
                </a:ext>
              </a:extLst>
            </p:cNvPr>
            <p:cNvSpPr txBox="1"/>
            <p:nvPr/>
          </p:nvSpPr>
          <p:spPr>
            <a:xfrm>
              <a:off x="4975572" y="1916775"/>
              <a:ext cx="545744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0" i="0" dirty="0">
                  <a:solidFill>
                    <a:srgbClr val="C9A94E"/>
                  </a:solidFill>
                  <a:effectLst/>
                </a:rPr>
                <a:t>$$$$$</a:t>
              </a:r>
              <a:endParaRPr lang="es-CO" sz="1000" dirty="0"/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F812F818-8E7B-7E48-2275-6730A24175D7}"/>
                </a:ext>
              </a:extLst>
            </p:cNvPr>
            <p:cNvSpPr/>
            <p:nvPr/>
          </p:nvSpPr>
          <p:spPr>
            <a:xfrm>
              <a:off x="256032" y="2542357"/>
              <a:ext cx="5148000" cy="158400"/>
            </a:xfrm>
            <a:prstGeom prst="roundRect">
              <a:avLst/>
            </a:prstGeom>
            <a:solidFill>
              <a:srgbClr val="C9A94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CO" dirty="0"/>
            </a:p>
          </p:txBody>
        </p:sp>
        <p:sp>
          <p:nvSpPr>
            <p:cNvPr id="23" name="Rectángulo: esquinas redondeadas 22">
              <a:extLst>
                <a:ext uri="{FF2B5EF4-FFF2-40B4-BE49-F238E27FC236}">
                  <a16:creationId xmlns:a16="http://schemas.microsoft.com/office/drawing/2014/main" id="{E186E7A7-658D-8C72-083E-B2BBEFB1E6B3}"/>
                </a:ext>
              </a:extLst>
            </p:cNvPr>
            <p:cNvSpPr/>
            <p:nvPr/>
          </p:nvSpPr>
          <p:spPr>
            <a:xfrm>
              <a:off x="256032" y="2545405"/>
              <a:ext cx="3420422" cy="158400"/>
            </a:xfrm>
            <a:prstGeom prst="roundRect">
              <a:avLst/>
            </a:prstGeom>
            <a:gradFill flip="none" rotWithShape="1">
              <a:gsLst>
                <a:gs pos="0">
                  <a:srgbClr val="C9A94E"/>
                </a:gs>
                <a:gs pos="100000">
                  <a:srgbClr val="C9A94E">
                    <a:alpha val="6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CO" sz="900" i="0" dirty="0">
                  <a:solidFill>
                    <a:srgbClr val="0A1628"/>
                  </a:solidFill>
                  <a:effectLst/>
                  <a:latin typeface="+mj-lt"/>
                </a:rPr>
                <a:t>Costo recurrente</a:t>
              </a:r>
              <a:endParaRPr lang="es-CO" sz="900" dirty="0">
                <a:latin typeface="+mj-lt"/>
              </a:endParaRP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AD912204-667A-1474-3CF5-40A490313AE8}"/>
                </a:ext>
              </a:extLst>
            </p:cNvPr>
            <p:cNvSpPr txBox="1"/>
            <p:nvPr/>
          </p:nvSpPr>
          <p:spPr>
            <a:xfrm>
              <a:off x="5103588" y="2321960"/>
              <a:ext cx="43738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0" i="0" dirty="0">
                  <a:solidFill>
                    <a:srgbClr val="C9A94E"/>
                  </a:solidFill>
                  <a:effectLst/>
                </a:rPr>
                <a:t>$$$</a:t>
              </a:r>
              <a:endParaRPr lang="es-CO" sz="1000" dirty="0"/>
            </a:p>
          </p:txBody>
        </p:sp>
        <p:sp>
          <p:nvSpPr>
            <p:cNvPr id="26" name="Rectángulo: esquinas redondeadas 25">
              <a:extLst>
                <a:ext uri="{FF2B5EF4-FFF2-40B4-BE49-F238E27FC236}">
                  <a16:creationId xmlns:a16="http://schemas.microsoft.com/office/drawing/2014/main" id="{69B7B7EC-5272-A0EC-F61F-F1A14DEDDBCF}"/>
                </a:ext>
              </a:extLst>
            </p:cNvPr>
            <p:cNvSpPr/>
            <p:nvPr/>
          </p:nvSpPr>
          <p:spPr>
            <a:xfrm>
              <a:off x="265176" y="2959744"/>
              <a:ext cx="5148000" cy="158400"/>
            </a:xfrm>
            <a:prstGeom prst="roundRect">
              <a:avLst/>
            </a:prstGeom>
            <a:solidFill>
              <a:srgbClr val="C9A94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CO" dirty="0"/>
            </a:p>
          </p:txBody>
        </p:sp>
        <p:sp>
          <p:nvSpPr>
            <p:cNvPr id="27" name="Rectángulo: esquinas redondeadas 26">
              <a:extLst>
                <a:ext uri="{FF2B5EF4-FFF2-40B4-BE49-F238E27FC236}">
                  <a16:creationId xmlns:a16="http://schemas.microsoft.com/office/drawing/2014/main" id="{21DF244D-4DDA-8E3D-79FF-5C0C9479C3A4}"/>
                </a:ext>
              </a:extLst>
            </p:cNvPr>
            <p:cNvSpPr/>
            <p:nvPr/>
          </p:nvSpPr>
          <p:spPr>
            <a:xfrm>
              <a:off x="265176" y="2962792"/>
              <a:ext cx="2487451" cy="158400"/>
            </a:xfrm>
            <a:prstGeom prst="roundRect">
              <a:avLst/>
            </a:prstGeom>
            <a:gradFill flip="none" rotWithShape="1">
              <a:gsLst>
                <a:gs pos="0">
                  <a:srgbClr val="C9A94E"/>
                </a:gs>
                <a:gs pos="100000">
                  <a:srgbClr val="C9A94E">
                    <a:alpha val="6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CO" sz="900" i="0" dirty="0">
                  <a:solidFill>
                    <a:srgbClr val="0A1628"/>
                  </a:solidFill>
                  <a:effectLst/>
                  <a:latin typeface="+mj-lt"/>
                </a:rPr>
                <a:t>24/7</a:t>
              </a:r>
              <a:endParaRPr lang="es-CO" sz="900" dirty="0">
                <a:latin typeface="+mj-lt"/>
              </a:endParaRP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31F4E4C8-16DF-1D9B-4302-D9C0A8C7A830}"/>
                </a:ext>
              </a:extLst>
            </p:cNvPr>
            <p:cNvSpPr txBox="1"/>
            <p:nvPr/>
          </p:nvSpPr>
          <p:spPr>
            <a:xfrm>
              <a:off x="167792" y="2745747"/>
              <a:ext cx="2396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i="0" dirty="0">
                  <a:effectLst/>
                </a:rPr>
                <a:t>Electricidad + clima</a:t>
              </a:r>
              <a:endParaRPr lang="es-CO" sz="1000" dirty="0"/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C78073DC-93C6-E669-2201-74F59A51E1B0}"/>
                </a:ext>
              </a:extLst>
            </p:cNvPr>
            <p:cNvSpPr txBox="1"/>
            <p:nvPr/>
          </p:nvSpPr>
          <p:spPr>
            <a:xfrm>
              <a:off x="5176740" y="2739347"/>
              <a:ext cx="43738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0" i="0" dirty="0">
                  <a:solidFill>
                    <a:srgbClr val="C9A94E"/>
                  </a:solidFill>
                  <a:effectLst/>
                </a:rPr>
                <a:t>$$</a:t>
              </a:r>
              <a:endParaRPr lang="es-CO" sz="1000" dirty="0"/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876E1B47-0BDA-EE6D-5F27-9CA8F26F14BF}"/>
                </a:ext>
              </a:extLst>
            </p:cNvPr>
            <p:cNvSpPr/>
            <p:nvPr/>
          </p:nvSpPr>
          <p:spPr>
            <a:xfrm>
              <a:off x="265176" y="3368596"/>
              <a:ext cx="5148000" cy="158400"/>
            </a:xfrm>
            <a:prstGeom prst="roundRect">
              <a:avLst/>
            </a:prstGeom>
            <a:solidFill>
              <a:srgbClr val="E8505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CO" dirty="0"/>
            </a:p>
          </p:txBody>
        </p:sp>
        <p:sp>
          <p:nvSpPr>
            <p:cNvPr id="31" name="Rectángulo: esquinas redondeadas 30">
              <a:extLst>
                <a:ext uri="{FF2B5EF4-FFF2-40B4-BE49-F238E27FC236}">
                  <a16:creationId xmlns:a16="http://schemas.microsoft.com/office/drawing/2014/main" id="{A1E94347-1625-01A8-B5F3-DE7BB057EA08}"/>
                </a:ext>
              </a:extLst>
            </p:cNvPr>
            <p:cNvSpPr/>
            <p:nvPr/>
          </p:nvSpPr>
          <p:spPr>
            <a:xfrm>
              <a:off x="265176" y="3371643"/>
              <a:ext cx="2006684" cy="158400"/>
            </a:xfrm>
            <a:prstGeom prst="roundRect">
              <a:avLst/>
            </a:prstGeom>
            <a:gradFill flip="none" rotWithShape="1">
              <a:gsLst>
                <a:gs pos="0">
                  <a:srgbClr val="E85050"/>
                </a:gs>
                <a:gs pos="100000">
                  <a:srgbClr val="E85050">
                    <a:alpha val="6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CO" sz="900" i="0" dirty="0">
                  <a:solidFill>
                    <a:srgbClr val="0A1628"/>
                  </a:solidFill>
                  <a:effectLst/>
                  <a:latin typeface="+mj-lt"/>
                </a:rPr>
                <a:t>Sin respaldo</a:t>
              </a:r>
              <a:endParaRPr lang="es-CO" sz="900" dirty="0">
                <a:latin typeface="+mj-lt"/>
              </a:endParaRPr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A123B216-E4B5-C3EE-E1FC-1898BC8A8343}"/>
                </a:ext>
              </a:extLst>
            </p:cNvPr>
            <p:cNvSpPr txBox="1"/>
            <p:nvPr/>
          </p:nvSpPr>
          <p:spPr>
            <a:xfrm>
              <a:off x="167792" y="3154599"/>
              <a:ext cx="174585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i="0" dirty="0">
                  <a:effectLst/>
                </a:rPr>
                <a:t>Si se dañan</a:t>
              </a:r>
              <a:endParaRPr lang="es-CO" sz="1000" dirty="0"/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71CFB28D-BA4D-B35A-BD23-3D4377400EE5}"/>
                </a:ext>
              </a:extLst>
            </p:cNvPr>
            <p:cNvSpPr txBox="1"/>
            <p:nvPr/>
          </p:nvSpPr>
          <p:spPr>
            <a:xfrm>
              <a:off x="4471130" y="3148199"/>
              <a:ext cx="109408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0" i="0" dirty="0">
                  <a:solidFill>
                    <a:srgbClr val="933A41"/>
                  </a:solidFill>
                  <a:effectLst/>
                </a:rPr>
                <a:t>Sistema caído</a:t>
              </a:r>
              <a:endParaRPr lang="es-CO" sz="1000" dirty="0">
                <a:solidFill>
                  <a:srgbClr val="933A41"/>
                </a:solidFill>
              </a:endParaRPr>
            </a:p>
          </p:txBody>
        </p:sp>
      </p:grpSp>
      <p:grpSp>
        <p:nvGrpSpPr>
          <p:cNvPr id="108" name="Grupo 107">
            <a:extLst>
              <a:ext uri="{FF2B5EF4-FFF2-40B4-BE49-F238E27FC236}">
                <a16:creationId xmlns:a16="http://schemas.microsoft.com/office/drawing/2014/main" id="{08CBD6ED-21A1-2870-68D8-D9B171EA4FD3}"/>
              </a:ext>
            </a:extLst>
          </p:cNvPr>
          <p:cNvGrpSpPr/>
          <p:nvPr/>
        </p:nvGrpSpPr>
        <p:grpSpPr>
          <a:xfrm>
            <a:off x="6009052" y="1627159"/>
            <a:ext cx="5995781" cy="1868478"/>
            <a:chOff x="6095999" y="1624958"/>
            <a:chExt cx="5382331" cy="1868478"/>
          </a:xfrm>
        </p:grpSpPr>
        <p:sp>
          <p:nvSpPr>
            <p:cNvPr id="72" name="Rectángulo: esquinas redondeadas 71">
              <a:extLst>
                <a:ext uri="{FF2B5EF4-FFF2-40B4-BE49-F238E27FC236}">
                  <a16:creationId xmlns:a16="http://schemas.microsoft.com/office/drawing/2014/main" id="{3EE37F1C-FD1C-BE71-5B98-30F356392BB1}"/>
                </a:ext>
              </a:extLst>
            </p:cNvPr>
            <p:cNvSpPr/>
            <p:nvPr/>
          </p:nvSpPr>
          <p:spPr>
            <a:xfrm>
              <a:off x="6193384" y="2100565"/>
              <a:ext cx="5148000" cy="158400"/>
            </a:xfrm>
            <a:prstGeom prst="roundRect">
              <a:avLst/>
            </a:prstGeom>
            <a:solidFill>
              <a:srgbClr val="C9A94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CO" dirty="0"/>
            </a:p>
          </p:txBody>
        </p:sp>
        <p:sp>
          <p:nvSpPr>
            <p:cNvPr id="73" name="Rectángulo: esquinas redondeadas 72">
              <a:extLst>
                <a:ext uri="{FF2B5EF4-FFF2-40B4-BE49-F238E27FC236}">
                  <a16:creationId xmlns:a16="http://schemas.microsoft.com/office/drawing/2014/main" id="{BC288DA2-26F1-6916-E484-D5C6780EA64D}"/>
                </a:ext>
              </a:extLst>
            </p:cNvPr>
            <p:cNvSpPr/>
            <p:nvPr/>
          </p:nvSpPr>
          <p:spPr>
            <a:xfrm>
              <a:off x="6193386" y="2103612"/>
              <a:ext cx="1657609" cy="158400"/>
            </a:xfrm>
            <a:prstGeom prst="roundRect">
              <a:avLst/>
            </a:prstGeom>
            <a:gradFill flip="none" rotWithShape="1">
              <a:gsLst>
                <a:gs pos="0">
                  <a:srgbClr val="C9A94E"/>
                </a:gs>
                <a:gs pos="100000">
                  <a:srgbClr val="C9A94E">
                    <a:alpha val="6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CO" sz="900" i="0" dirty="0">
                  <a:solidFill>
                    <a:srgbClr val="0A1628"/>
                  </a:solidFill>
                  <a:effectLst/>
                  <a:latin typeface="+mj-lt"/>
                </a:rPr>
                <a:t>~$1.8M COP/mes</a:t>
              </a:r>
              <a:endParaRPr lang="es-CO" sz="900" dirty="0">
                <a:latin typeface="+mj-lt"/>
              </a:endParaRPr>
            </a:p>
          </p:txBody>
        </p: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AB1B4B67-C603-7249-48F6-8FEAA82B33B7}"/>
                </a:ext>
              </a:extLst>
            </p:cNvPr>
            <p:cNvSpPr txBox="1"/>
            <p:nvPr/>
          </p:nvSpPr>
          <p:spPr>
            <a:xfrm>
              <a:off x="6096000" y="1886568"/>
              <a:ext cx="269767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i="0" dirty="0">
                  <a:effectLst/>
                </a:rPr>
                <a:t>Pago por uso mensual*</a:t>
              </a:r>
              <a:endParaRPr lang="es-CO" sz="1000" dirty="0"/>
            </a:p>
          </p:txBody>
        </p:sp>
        <p:sp>
          <p:nvSpPr>
            <p:cNvPr id="75" name="CuadroTexto 74">
              <a:extLst>
                <a:ext uri="{FF2B5EF4-FFF2-40B4-BE49-F238E27FC236}">
                  <a16:creationId xmlns:a16="http://schemas.microsoft.com/office/drawing/2014/main" id="{82CE3C3B-3F3F-9DCF-9C76-90C080A06A9D}"/>
                </a:ext>
              </a:extLst>
            </p:cNvPr>
            <p:cNvSpPr txBox="1"/>
            <p:nvPr/>
          </p:nvSpPr>
          <p:spPr>
            <a:xfrm>
              <a:off x="11178104" y="1880168"/>
              <a:ext cx="255177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0" i="0" dirty="0">
                  <a:solidFill>
                    <a:srgbClr val="C9A94E"/>
                  </a:solidFill>
                  <a:effectLst/>
                </a:rPr>
                <a:t>$</a:t>
              </a:r>
              <a:endParaRPr lang="es-CO" sz="1000" dirty="0"/>
            </a:p>
          </p:txBody>
        </p:sp>
        <p:sp>
          <p:nvSpPr>
            <p:cNvPr id="76" name="Rectángulo: esquinas redondeadas 75">
              <a:extLst>
                <a:ext uri="{FF2B5EF4-FFF2-40B4-BE49-F238E27FC236}">
                  <a16:creationId xmlns:a16="http://schemas.microsoft.com/office/drawing/2014/main" id="{16596953-6438-5F1C-5BF7-4243DCD0ACBC}"/>
                </a:ext>
              </a:extLst>
            </p:cNvPr>
            <p:cNvSpPr/>
            <p:nvPr/>
          </p:nvSpPr>
          <p:spPr>
            <a:xfrm>
              <a:off x="6193385" y="2505750"/>
              <a:ext cx="5148000" cy="158400"/>
            </a:xfrm>
            <a:prstGeom prst="roundRect">
              <a:avLst/>
            </a:prstGeom>
            <a:solidFill>
              <a:srgbClr val="C9A94E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s-CO" dirty="0"/>
            </a:p>
          </p:txBody>
        </p:sp>
        <p:sp>
          <p:nvSpPr>
            <p:cNvPr id="77" name="Rectángulo: esquinas redondeadas 76">
              <a:extLst>
                <a:ext uri="{FF2B5EF4-FFF2-40B4-BE49-F238E27FC236}">
                  <a16:creationId xmlns:a16="http://schemas.microsoft.com/office/drawing/2014/main" id="{98F7A556-BE43-DE76-23A9-886B063862BD}"/>
                </a:ext>
              </a:extLst>
            </p:cNvPr>
            <p:cNvSpPr/>
            <p:nvPr/>
          </p:nvSpPr>
          <p:spPr>
            <a:xfrm>
              <a:off x="6193385" y="2508798"/>
              <a:ext cx="323167" cy="158400"/>
            </a:xfrm>
            <a:prstGeom prst="roundRect">
              <a:avLst/>
            </a:prstGeom>
            <a:gradFill flip="none" rotWithShape="1">
              <a:gsLst>
                <a:gs pos="0">
                  <a:srgbClr val="C9A94E"/>
                </a:gs>
                <a:gs pos="100000">
                  <a:srgbClr val="C9A94E">
                    <a:alpha val="6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CO" sz="900" i="0" dirty="0">
                  <a:solidFill>
                    <a:srgbClr val="0A1628"/>
                  </a:solidFill>
                  <a:effectLst/>
                  <a:latin typeface="+mj-lt"/>
                </a:rPr>
                <a:t>$0</a:t>
              </a:r>
              <a:endParaRPr lang="es-CO" sz="900" dirty="0">
                <a:latin typeface="+mj-lt"/>
              </a:endParaRPr>
            </a:p>
          </p:txBody>
        </p:sp>
        <p:sp>
          <p:nvSpPr>
            <p:cNvPr id="78" name="CuadroTexto 77">
              <a:extLst>
                <a:ext uri="{FF2B5EF4-FFF2-40B4-BE49-F238E27FC236}">
                  <a16:creationId xmlns:a16="http://schemas.microsoft.com/office/drawing/2014/main" id="{FF3E2AE5-EB0B-A764-4778-B4E73CDAB3DE}"/>
                </a:ext>
              </a:extLst>
            </p:cNvPr>
            <p:cNvSpPr txBox="1"/>
            <p:nvPr/>
          </p:nvSpPr>
          <p:spPr>
            <a:xfrm>
              <a:off x="6096001" y="2291753"/>
              <a:ext cx="259398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i="0" dirty="0">
                  <a:effectLst/>
                </a:rPr>
                <a:t>Mantenimiento técnico</a:t>
              </a:r>
              <a:endParaRPr lang="es-CO" sz="1000" dirty="0"/>
            </a:p>
          </p:txBody>
        </p:sp>
        <p:sp>
          <p:nvSpPr>
            <p:cNvPr id="79" name="CuadroTexto 78">
              <a:extLst>
                <a:ext uri="{FF2B5EF4-FFF2-40B4-BE49-F238E27FC236}">
                  <a16:creationId xmlns:a16="http://schemas.microsoft.com/office/drawing/2014/main" id="{377FBBA6-E878-F387-A0D5-3D17D3997370}"/>
                </a:ext>
              </a:extLst>
            </p:cNvPr>
            <p:cNvSpPr txBox="1"/>
            <p:nvPr/>
          </p:nvSpPr>
          <p:spPr>
            <a:xfrm>
              <a:off x="11040941" y="2285353"/>
              <a:ext cx="43738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0" i="0" dirty="0">
                  <a:solidFill>
                    <a:srgbClr val="C9A94E"/>
                  </a:solidFill>
                  <a:effectLst/>
                </a:rPr>
                <a:t>$$$</a:t>
              </a:r>
              <a:endParaRPr lang="es-CO" sz="1000" dirty="0"/>
            </a:p>
          </p:txBody>
        </p:sp>
        <p:sp>
          <p:nvSpPr>
            <p:cNvPr id="80" name="Rectángulo: esquinas redondeadas 79">
              <a:extLst>
                <a:ext uri="{FF2B5EF4-FFF2-40B4-BE49-F238E27FC236}">
                  <a16:creationId xmlns:a16="http://schemas.microsoft.com/office/drawing/2014/main" id="{9F591460-28F8-027D-22E7-740A4494E8D1}"/>
                </a:ext>
              </a:extLst>
            </p:cNvPr>
            <p:cNvSpPr/>
            <p:nvPr/>
          </p:nvSpPr>
          <p:spPr>
            <a:xfrm>
              <a:off x="6202529" y="2923137"/>
              <a:ext cx="5148000" cy="158400"/>
            </a:xfrm>
            <a:prstGeom prst="roundRect">
              <a:avLst/>
            </a:prstGeom>
            <a:gradFill>
              <a:gsLst>
                <a:gs pos="0">
                  <a:srgbClr val="7AB07E"/>
                </a:gs>
                <a:gs pos="100000">
                  <a:srgbClr val="7AB07E">
                    <a:lumMod val="100000"/>
                    <a:alpha val="7000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CO" sz="800" i="0" dirty="0">
                  <a:solidFill>
                    <a:srgbClr val="0A1628"/>
                  </a:solidFill>
                  <a:effectLst/>
                  <a:latin typeface="+mj-lt"/>
                </a:rPr>
                <a:t>Sin limites</a:t>
              </a:r>
              <a:endParaRPr lang="es-CO" dirty="0"/>
            </a:p>
          </p:txBody>
        </p:sp>
        <p:sp>
          <p:nvSpPr>
            <p:cNvPr id="82" name="CuadroTexto 81">
              <a:extLst>
                <a:ext uri="{FF2B5EF4-FFF2-40B4-BE49-F238E27FC236}">
                  <a16:creationId xmlns:a16="http://schemas.microsoft.com/office/drawing/2014/main" id="{C65213F0-0475-46FC-C17D-6854B7F3E7C4}"/>
                </a:ext>
              </a:extLst>
            </p:cNvPr>
            <p:cNvSpPr txBox="1"/>
            <p:nvPr/>
          </p:nvSpPr>
          <p:spPr>
            <a:xfrm>
              <a:off x="6105145" y="2709140"/>
              <a:ext cx="2396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i="0" dirty="0">
                  <a:effectLst/>
                </a:rPr>
                <a:t>Escalabilidad</a:t>
              </a:r>
              <a:endParaRPr lang="es-CO" sz="1000" dirty="0"/>
            </a:p>
          </p:txBody>
        </p: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E1086D94-44F3-B40C-502B-2056A572C605}"/>
                </a:ext>
              </a:extLst>
            </p:cNvPr>
            <p:cNvSpPr txBox="1"/>
            <p:nvPr/>
          </p:nvSpPr>
          <p:spPr>
            <a:xfrm>
              <a:off x="10738063" y="2702740"/>
              <a:ext cx="720332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0" i="0" dirty="0">
                  <a:solidFill>
                    <a:srgbClr val="7AB07E"/>
                  </a:solidFill>
                  <a:effectLst/>
                  <a:latin typeface="Figtree"/>
                </a:rPr>
                <a:t>Automática</a:t>
              </a:r>
              <a:endParaRPr lang="es-CO" sz="1000" dirty="0"/>
            </a:p>
          </p:txBody>
        </p:sp>
        <p:sp>
          <p:nvSpPr>
            <p:cNvPr id="85" name="Rectángulo: esquinas redondeadas 84">
              <a:extLst>
                <a:ext uri="{FF2B5EF4-FFF2-40B4-BE49-F238E27FC236}">
                  <a16:creationId xmlns:a16="http://schemas.microsoft.com/office/drawing/2014/main" id="{68943915-7299-A75C-5B29-AD1AEB7D3C05}"/>
                </a:ext>
              </a:extLst>
            </p:cNvPr>
            <p:cNvSpPr/>
            <p:nvPr/>
          </p:nvSpPr>
          <p:spPr>
            <a:xfrm>
              <a:off x="6202528" y="3335036"/>
              <a:ext cx="5148052" cy="158400"/>
            </a:xfrm>
            <a:prstGeom prst="roundRect">
              <a:avLst/>
            </a:prstGeom>
            <a:gradFill flip="none" rotWithShape="1">
              <a:gsLst>
                <a:gs pos="0">
                  <a:srgbClr val="7AB07E"/>
                </a:gs>
                <a:gs pos="100000">
                  <a:srgbClr val="7AB07E">
                    <a:lumMod val="100000"/>
                    <a:alpha val="7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s-CO" sz="900" i="0" dirty="0">
                  <a:solidFill>
                    <a:srgbClr val="0A1628"/>
                  </a:solidFill>
                  <a:effectLst/>
                  <a:latin typeface="+mj-lt"/>
                </a:rPr>
                <a:t>Alta</a:t>
              </a:r>
              <a:endParaRPr lang="es-CO" sz="900" dirty="0">
                <a:latin typeface="+mj-lt"/>
              </a:endParaRPr>
            </a:p>
          </p:txBody>
        </p:sp>
        <p:sp>
          <p:nvSpPr>
            <p:cNvPr id="86" name="CuadroTexto 85">
              <a:extLst>
                <a:ext uri="{FF2B5EF4-FFF2-40B4-BE49-F238E27FC236}">
                  <a16:creationId xmlns:a16="http://schemas.microsoft.com/office/drawing/2014/main" id="{B0A50690-16B2-FE24-7E67-0585CEC33560}"/>
                </a:ext>
              </a:extLst>
            </p:cNvPr>
            <p:cNvSpPr txBox="1"/>
            <p:nvPr/>
          </p:nvSpPr>
          <p:spPr>
            <a:xfrm>
              <a:off x="6105145" y="3117992"/>
              <a:ext cx="174585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i="0" dirty="0">
                  <a:effectLst/>
                </a:rPr>
                <a:t>Seguridad</a:t>
              </a:r>
              <a:endParaRPr lang="es-CO" sz="1000" dirty="0"/>
            </a:p>
          </p:txBody>
        </p:sp>
        <p:sp>
          <p:nvSpPr>
            <p:cNvPr id="87" name="CuadroTexto 86">
              <a:extLst>
                <a:ext uri="{FF2B5EF4-FFF2-40B4-BE49-F238E27FC236}">
                  <a16:creationId xmlns:a16="http://schemas.microsoft.com/office/drawing/2014/main" id="{76BE5B20-2E7E-57A9-268B-84A212CC7F85}"/>
                </a:ext>
              </a:extLst>
            </p:cNvPr>
            <p:cNvSpPr txBox="1"/>
            <p:nvPr/>
          </p:nvSpPr>
          <p:spPr>
            <a:xfrm>
              <a:off x="10383096" y="3111592"/>
              <a:ext cx="109408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0" i="0" dirty="0">
                  <a:solidFill>
                    <a:srgbClr val="7AB07E"/>
                  </a:solidFill>
                  <a:effectLst/>
                </a:rPr>
                <a:t>99.5% disponible</a:t>
              </a:r>
              <a:endParaRPr lang="es-CO" sz="1000" dirty="0">
                <a:solidFill>
                  <a:srgbClr val="7AB07E"/>
                </a:solidFill>
              </a:endParaRPr>
            </a:p>
          </p:txBody>
        </p: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C10C8D54-61C6-3F06-E4DA-ADED7DFDB8C6}"/>
                </a:ext>
              </a:extLst>
            </p:cNvPr>
            <p:cNvSpPr txBox="1"/>
            <p:nvPr/>
          </p:nvSpPr>
          <p:spPr>
            <a:xfrm>
              <a:off x="6095999" y="1624958"/>
              <a:ext cx="73029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CO" sz="1000" b="1" i="0" cap="all" dirty="0">
                  <a:solidFill>
                    <a:srgbClr val="55503A"/>
                  </a:solidFill>
                  <a:effectLst/>
                </a:rPr>
                <a:t>Nube</a:t>
              </a:r>
              <a:endParaRPr lang="es-CO" sz="1050" dirty="0">
                <a:solidFill>
                  <a:srgbClr val="55503A"/>
                </a:solidFill>
              </a:endParaRPr>
            </a:p>
          </p:txBody>
        </p:sp>
      </p:grpSp>
      <p:sp>
        <p:nvSpPr>
          <p:cNvPr id="111" name="CuadroTexto 110">
            <a:extLst>
              <a:ext uri="{FF2B5EF4-FFF2-40B4-BE49-F238E27FC236}">
                <a16:creationId xmlns:a16="http://schemas.microsoft.com/office/drawing/2014/main" id="{0E5BFDA4-2BC8-D325-94FB-ED02AD01426D}"/>
              </a:ext>
            </a:extLst>
          </p:cNvPr>
          <p:cNvSpPr txBox="1"/>
          <p:nvPr/>
        </p:nvSpPr>
        <p:spPr>
          <a:xfrm>
            <a:off x="6058807" y="3498109"/>
            <a:ext cx="609447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800" b="0" i="1" dirty="0">
                <a:solidFill>
                  <a:srgbClr val="505352"/>
                </a:solidFill>
                <a:effectLst/>
                <a:latin typeface="+mj-lt"/>
              </a:rPr>
              <a:t>* Costo mensual AWS para ~100 asesores en producción. Incluye todos los servicios de infraestructura, IA y monitoreo.</a:t>
            </a:r>
            <a:endParaRPr lang="es-CO" sz="800" dirty="0">
              <a:solidFill>
                <a:srgbClr val="50535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45951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9905998" cy="770909"/>
          </a:xfrm>
        </p:spPr>
        <p:txBody>
          <a:bodyPr/>
          <a:lstStyle/>
          <a:p>
            <a:r>
              <a:rPr lang="es-CO" b="1" dirty="0">
                <a:effectLst/>
              </a:rPr>
              <a:t>¿Cuánto cuesta </a:t>
            </a:r>
            <a:r>
              <a:rPr lang="es-CO" b="1" dirty="0" err="1">
                <a:solidFill>
                  <a:srgbClr val="C9AA4D"/>
                </a:solidFill>
                <a:effectLst/>
              </a:rPr>
              <a:t>aws</a:t>
            </a:r>
            <a:r>
              <a:rPr lang="es-CO" b="1" dirty="0">
                <a:solidFill>
                  <a:srgbClr val="C9AA4D"/>
                </a:solidFill>
                <a:effectLst/>
              </a:rPr>
              <a:t> por mes?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68B6BA-CBCC-5770-CE8F-72566ED6C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835" y="2196173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CO" sz="1050" b="1" i="0" cap="all" dirty="0">
                <a:solidFill>
                  <a:srgbClr val="C9A94E"/>
                </a:solidFill>
                <a:effectLst/>
                <a:latin typeface="Figtree"/>
              </a:rPr>
              <a:t>🔬 </a:t>
            </a:r>
            <a:r>
              <a:rPr lang="es-MX" sz="1100" b="1" cap="none" dirty="0">
                <a:solidFill>
                  <a:srgbClr val="C9AA4D"/>
                </a:solidFill>
                <a:effectLst/>
              </a:rPr>
              <a:t>AMBIENTE DE PRUEBAS</a:t>
            </a:r>
            <a:endParaRPr lang="es-CO" sz="1200" b="1" cap="none" dirty="0">
              <a:solidFill>
                <a:srgbClr val="C9AA4D"/>
              </a:solidFill>
              <a:effectLst/>
            </a:endParaRPr>
          </a:p>
          <a:p>
            <a:pPr marL="0" indent="0">
              <a:buNone/>
            </a:pPr>
            <a:r>
              <a:rPr lang="es-CO" b="1" cap="none" dirty="0">
                <a:solidFill>
                  <a:srgbClr val="ACA9A7"/>
                </a:solidFill>
                <a:effectLst/>
              </a:rPr>
              <a:t>~$255k COP</a:t>
            </a:r>
            <a:r>
              <a:rPr lang="es-CO" sz="1200" b="1" cap="none" dirty="0">
                <a:solidFill>
                  <a:srgbClr val="ACA9A7"/>
                </a:solidFill>
                <a:effectLst/>
              </a:rPr>
              <a:t> </a:t>
            </a:r>
            <a:r>
              <a:rPr lang="es-CO" sz="1000" b="1" cap="none" dirty="0">
                <a:solidFill>
                  <a:srgbClr val="ACA9A7"/>
                </a:solidFill>
                <a:effectLst/>
              </a:rPr>
              <a:t>($74 USD)</a:t>
            </a:r>
          </a:p>
          <a:p>
            <a:pPr marL="0" indent="0">
              <a:buNone/>
            </a:pPr>
            <a:r>
              <a:rPr lang="es-CO" sz="1000" b="1" cap="none" dirty="0">
                <a:solidFill>
                  <a:srgbClr val="797C75"/>
                </a:solidFill>
                <a:effectLst/>
              </a:rPr>
              <a:t>Ambiente de pruebas separado</a:t>
            </a:r>
            <a:endParaRPr lang="es-MX" sz="1100" b="1" cap="none" dirty="0">
              <a:solidFill>
                <a:srgbClr val="797C75"/>
              </a:solidFill>
              <a:effectLst/>
            </a:endParaRPr>
          </a:p>
          <a:p>
            <a:pPr marL="0" indent="0">
              <a:buNone/>
            </a:pPr>
            <a:r>
              <a:rPr lang="es-CO" sz="800" b="0" i="0" dirty="0">
                <a:solidFill>
                  <a:srgbClr val="E3E3E3"/>
                </a:solidFill>
                <a:effectLst/>
                <a:latin typeface="Courier New" panose="02070309020205020404" pitchFamily="49" charset="0"/>
              </a:rPr>
              <a:t>➕ </a:t>
            </a:r>
            <a:r>
              <a:rPr lang="es-MX" sz="900" b="1" cap="none" dirty="0">
                <a:solidFill>
                  <a:srgbClr val="504E41"/>
                </a:solidFill>
                <a:effectLst/>
              </a:rPr>
              <a:t>Adicional a producción – Servicios reducidos</a:t>
            </a:r>
            <a:endParaRPr lang="es-CO" sz="900" b="1" cap="none" dirty="0">
              <a:solidFill>
                <a:srgbClr val="504E41"/>
              </a:solidFill>
              <a:effectLst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cap="all" dirty="0">
                <a:solidFill>
                  <a:srgbClr val="C9A94E"/>
                </a:solidFill>
                <a:effectLst/>
              </a:rPr>
              <a:t>Solo infraestructura nube</a:t>
            </a:r>
            <a:endParaRPr lang="es-CO" sz="1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EB8A33E8-CAE3-CD12-93FE-72405720F57A}"/>
              </a:ext>
            </a:extLst>
          </p:cNvPr>
          <p:cNvSpPr txBox="1">
            <a:spLocks/>
          </p:cNvSpPr>
          <p:nvPr/>
        </p:nvSpPr>
        <p:spPr>
          <a:xfrm>
            <a:off x="6068568" y="2196173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CO" sz="1050" b="1" i="0" cap="all" dirty="0">
                <a:solidFill>
                  <a:srgbClr val="C9A94E"/>
                </a:solidFill>
                <a:effectLst/>
                <a:latin typeface="Figtree"/>
              </a:rPr>
              <a:t>🧪 </a:t>
            </a:r>
            <a:r>
              <a:rPr lang="es-MX" sz="1100" b="1" cap="none" dirty="0">
                <a:solidFill>
                  <a:srgbClr val="C9AA4D"/>
                </a:solidFill>
                <a:effectLst/>
              </a:rPr>
              <a:t>MVP/PILOTO</a:t>
            </a:r>
            <a:endParaRPr lang="es-CO" sz="1200" b="1" cap="none" dirty="0">
              <a:solidFill>
                <a:srgbClr val="C9AA4D"/>
              </a:solidFill>
              <a:effectLst/>
            </a:endParaRPr>
          </a:p>
          <a:p>
            <a:pPr marL="0" indent="0">
              <a:buFont typeface="Arial"/>
              <a:buNone/>
            </a:pPr>
            <a:r>
              <a:rPr lang="es-CO" b="1" cap="none" dirty="0">
                <a:solidFill>
                  <a:srgbClr val="ACA9A7"/>
                </a:solidFill>
                <a:effectLst/>
              </a:rPr>
              <a:t>~$314k COP</a:t>
            </a:r>
            <a:r>
              <a:rPr lang="es-CO" sz="1200" b="1" cap="none" dirty="0">
                <a:solidFill>
                  <a:srgbClr val="ACA9A7"/>
                </a:solidFill>
                <a:effectLst/>
              </a:rPr>
              <a:t> </a:t>
            </a:r>
            <a:r>
              <a:rPr lang="es-CO" sz="1000" b="1" cap="none" dirty="0">
                <a:solidFill>
                  <a:srgbClr val="ACA9A7"/>
                </a:solidFill>
                <a:effectLst/>
              </a:rPr>
              <a:t>($91 USD)</a:t>
            </a:r>
          </a:p>
          <a:p>
            <a:pPr marL="0" indent="0">
              <a:buFont typeface="Arial"/>
              <a:buNone/>
            </a:pPr>
            <a:r>
              <a:rPr lang="es-CO" sz="1000" b="1" cap="none" dirty="0">
                <a:solidFill>
                  <a:srgbClr val="797C75"/>
                </a:solidFill>
                <a:effectLst/>
              </a:rPr>
              <a:t>1-2 servicios, instancias pequeñas</a:t>
            </a:r>
            <a:endParaRPr lang="es-MX" sz="1100" b="1" cap="none" dirty="0">
              <a:solidFill>
                <a:srgbClr val="797C75"/>
              </a:solidFill>
              <a:effectLst/>
            </a:endParaRPr>
          </a:p>
          <a:p>
            <a:pPr marL="0" indent="0">
              <a:buFont typeface="Arial"/>
              <a:buNone/>
            </a:pPr>
            <a:r>
              <a:rPr lang="es-CO" sz="800" b="0" i="0" dirty="0">
                <a:solidFill>
                  <a:srgbClr val="E3E3E3"/>
                </a:solidFill>
                <a:effectLst/>
                <a:latin typeface="Courier New" panose="02070309020205020404" pitchFamily="49" charset="0"/>
              </a:rPr>
              <a:t>👤</a:t>
            </a:r>
            <a:r>
              <a:rPr lang="es-CO" sz="900" dirty="0">
                <a:effectLst/>
                <a:latin typeface="Figtree"/>
              </a:rPr>
              <a:t> </a:t>
            </a:r>
            <a:r>
              <a:rPr lang="es-MX" sz="900" b="1" cap="none" dirty="0">
                <a:solidFill>
                  <a:srgbClr val="504E41"/>
                </a:solidFill>
                <a:effectLst/>
              </a:rPr>
              <a:t>&lt; 11 asesores</a:t>
            </a:r>
            <a:endParaRPr lang="es-CO" sz="900" b="1" cap="none" dirty="0">
              <a:solidFill>
                <a:srgbClr val="504E41"/>
              </a:solidFill>
              <a:effectLst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84EC290-B38A-5025-FDC7-C01A2E4A0D92}"/>
              </a:ext>
            </a:extLst>
          </p:cNvPr>
          <p:cNvSpPr txBox="1">
            <a:spLocks/>
          </p:cNvSpPr>
          <p:nvPr/>
        </p:nvSpPr>
        <p:spPr>
          <a:xfrm>
            <a:off x="1014834" y="3668360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CO" sz="1050" b="1" i="0" cap="all" dirty="0">
                <a:solidFill>
                  <a:srgbClr val="C9A94E"/>
                </a:solidFill>
                <a:effectLst/>
                <a:latin typeface="Figtree"/>
              </a:rPr>
              <a:t>🚀 </a:t>
            </a:r>
            <a:r>
              <a:rPr lang="es-MX" sz="1100" b="1" cap="none" dirty="0">
                <a:solidFill>
                  <a:srgbClr val="C9AA4D"/>
                </a:solidFill>
                <a:effectLst/>
              </a:rPr>
              <a:t>PRODUCCIÓN – 100 ASESORES</a:t>
            </a:r>
            <a:endParaRPr lang="es-CO" sz="1200" b="1" cap="none" dirty="0">
              <a:solidFill>
                <a:srgbClr val="C9AA4D"/>
              </a:solidFill>
              <a:effectLst/>
            </a:endParaRPr>
          </a:p>
          <a:p>
            <a:pPr marL="0" indent="0">
              <a:buFont typeface="Arial"/>
              <a:buNone/>
            </a:pPr>
            <a:r>
              <a:rPr lang="es-CO" b="1" cap="none" dirty="0">
                <a:solidFill>
                  <a:srgbClr val="ACA9A7"/>
                </a:solidFill>
                <a:effectLst/>
              </a:rPr>
              <a:t>~$1.8M COP</a:t>
            </a:r>
            <a:r>
              <a:rPr lang="es-CO" sz="1200" b="1" cap="none" dirty="0">
                <a:solidFill>
                  <a:srgbClr val="ACA9A7"/>
                </a:solidFill>
                <a:effectLst/>
              </a:rPr>
              <a:t> </a:t>
            </a:r>
            <a:r>
              <a:rPr lang="es-CO" sz="1000" b="1" cap="none" dirty="0">
                <a:solidFill>
                  <a:srgbClr val="ACA9A7"/>
                </a:solidFill>
                <a:effectLst/>
              </a:rPr>
              <a:t>($525 USD)</a:t>
            </a:r>
          </a:p>
          <a:p>
            <a:pPr marL="0" indent="0">
              <a:buFont typeface="Arial"/>
              <a:buNone/>
            </a:pPr>
            <a:r>
              <a:rPr lang="es-CO" sz="1000" b="1" cap="none" dirty="0">
                <a:solidFill>
                  <a:srgbClr val="797C75"/>
                </a:solidFill>
                <a:effectLst/>
              </a:rPr>
              <a:t>4-5 servicios, alta disponibilidad</a:t>
            </a:r>
            <a:endParaRPr lang="es-MX" sz="1100" b="1" cap="none" dirty="0">
              <a:solidFill>
                <a:srgbClr val="797C75"/>
              </a:solidFill>
              <a:effectLst/>
            </a:endParaRPr>
          </a:p>
          <a:p>
            <a:pPr marL="0" indent="0">
              <a:buFont typeface="Arial"/>
              <a:buNone/>
            </a:pPr>
            <a:r>
              <a:rPr lang="es-CO" sz="800" b="0" i="0" dirty="0">
                <a:solidFill>
                  <a:srgbClr val="E3E3E3"/>
                </a:solidFill>
                <a:effectLst/>
                <a:latin typeface="Courier New" panose="02070309020205020404" pitchFamily="49" charset="0"/>
              </a:rPr>
              <a:t>👤</a:t>
            </a:r>
            <a:r>
              <a:rPr lang="es-CO" sz="900" dirty="0">
                <a:effectLst/>
                <a:latin typeface="Figtree"/>
              </a:rPr>
              <a:t> </a:t>
            </a:r>
            <a:r>
              <a:rPr lang="es-MX" sz="900" b="1" cap="none" dirty="0">
                <a:solidFill>
                  <a:srgbClr val="504E41"/>
                </a:solidFill>
                <a:effectLst/>
              </a:rPr>
              <a:t>100 asesores</a:t>
            </a:r>
            <a:endParaRPr lang="es-CO" sz="900" b="1" cap="none" dirty="0">
              <a:solidFill>
                <a:srgbClr val="504E41"/>
              </a:solidFill>
              <a:effectLst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72396248-7B47-0B66-ED1E-EC12FDB3BA0F}"/>
              </a:ext>
            </a:extLst>
          </p:cNvPr>
          <p:cNvSpPr txBox="1">
            <a:spLocks/>
          </p:cNvSpPr>
          <p:nvPr/>
        </p:nvSpPr>
        <p:spPr>
          <a:xfrm>
            <a:off x="6068567" y="3668360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CO" sz="1050" b="1" i="0" cap="all" dirty="0">
                <a:solidFill>
                  <a:srgbClr val="C9A94E"/>
                </a:solidFill>
                <a:effectLst/>
                <a:latin typeface="Figtree"/>
              </a:rPr>
              <a:t>📈 </a:t>
            </a:r>
            <a:r>
              <a:rPr lang="es-MX" sz="1100" b="1" cap="none" dirty="0">
                <a:solidFill>
                  <a:srgbClr val="C9AA4D"/>
                </a:solidFill>
                <a:effectLst/>
              </a:rPr>
              <a:t>ESCALADO – 500 O MAS ASESORES</a:t>
            </a:r>
            <a:endParaRPr lang="es-CO" sz="1200" b="1" cap="none" dirty="0">
              <a:solidFill>
                <a:srgbClr val="C9AA4D"/>
              </a:solidFill>
              <a:effectLst/>
            </a:endParaRPr>
          </a:p>
          <a:p>
            <a:pPr marL="0" indent="0">
              <a:buFont typeface="Arial"/>
              <a:buNone/>
            </a:pPr>
            <a:r>
              <a:rPr lang="es-CO" b="1" cap="none" dirty="0">
                <a:solidFill>
                  <a:srgbClr val="ACA9A7"/>
                </a:solidFill>
                <a:effectLst/>
              </a:rPr>
              <a:t>~$4.5M COP</a:t>
            </a:r>
            <a:r>
              <a:rPr lang="es-CO" sz="1200" b="1" cap="none" dirty="0">
                <a:solidFill>
                  <a:srgbClr val="ACA9A7"/>
                </a:solidFill>
                <a:effectLst/>
              </a:rPr>
              <a:t> </a:t>
            </a:r>
            <a:r>
              <a:rPr lang="es-CO" sz="1000" b="1" cap="none" dirty="0">
                <a:solidFill>
                  <a:srgbClr val="ACA9A7"/>
                </a:solidFill>
                <a:effectLst/>
              </a:rPr>
              <a:t>($1,306 USD)</a:t>
            </a:r>
          </a:p>
          <a:p>
            <a:pPr marL="0" indent="0">
              <a:buFont typeface="Arial"/>
              <a:buNone/>
            </a:pPr>
            <a:r>
              <a:rPr lang="es-CO" sz="1000" b="1" cap="none" dirty="0">
                <a:solidFill>
                  <a:srgbClr val="797C75"/>
                </a:solidFill>
                <a:effectLst/>
              </a:rPr>
              <a:t>alta disponibilidad, múltiples zonas de disponibilidad</a:t>
            </a:r>
            <a:endParaRPr lang="es-MX" sz="1100" b="1" cap="none" dirty="0">
              <a:solidFill>
                <a:srgbClr val="797C75"/>
              </a:solidFill>
              <a:effectLst/>
            </a:endParaRPr>
          </a:p>
          <a:p>
            <a:pPr marL="0" indent="0">
              <a:buFont typeface="Arial"/>
              <a:buNone/>
            </a:pPr>
            <a:r>
              <a:rPr lang="es-CO" sz="800" b="0" i="0" dirty="0">
                <a:solidFill>
                  <a:srgbClr val="E3E3E3"/>
                </a:solidFill>
                <a:effectLst/>
                <a:latin typeface="Courier New" panose="02070309020205020404" pitchFamily="49" charset="0"/>
              </a:rPr>
              <a:t>👤</a:t>
            </a:r>
            <a:r>
              <a:rPr lang="es-CO" sz="900" dirty="0">
                <a:effectLst/>
                <a:latin typeface="Figtree"/>
              </a:rPr>
              <a:t> </a:t>
            </a:r>
            <a:r>
              <a:rPr lang="es-MX" sz="900" b="1" cap="none" dirty="0">
                <a:solidFill>
                  <a:srgbClr val="504E41"/>
                </a:solidFill>
                <a:effectLst/>
              </a:rPr>
              <a:t>500+ asesores – Escalamiento automático </a:t>
            </a:r>
            <a:endParaRPr lang="es-CO" sz="900" b="1" cap="none" dirty="0">
              <a:solidFill>
                <a:srgbClr val="504E41"/>
              </a:solidFill>
              <a:effectLst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1D89813-14B0-50CD-228C-10AAD7D2064C}"/>
              </a:ext>
            </a:extLst>
          </p:cNvPr>
          <p:cNvSpPr txBox="1"/>
          <p:nvPr/>
        </p:nvSpPr>
        <p:spPr>
          <a:xfrm>
            <a:off x="1014834" y="5076539"/>
            <a:ext cx="454471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100" i="1" dirty="0">
                <a:solidFill>
                  <a:srgbClr val="505352"/>
                </a:solidFill>
                <a:latin typeface="+mj-lt"/>
              </a:rPr>
              <a:t>* Solo costos de infraestructura AWS. Tasa: $1 USD = $3,450 COP</a:t>
            </a:r>
            <a:endParaRPr lang="es-CO" sz="1100" i="1" dirty="0">
              <a:solidFill>
                <a:srgbClr val="50535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1510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9905998" cy="770909"/>
          </a:xfrm>
        </p:spPr>
        <p:txBody>
          <a:bodyPr/>
          <a:lstStyle/>
          <a:p>
            <a:r>
              <a:rPr lang="es-CO" b="1" dirty="0">
                <a:effectLst/>
              </a:rPr>
              <a:t>En horas muertas, </a:t>
            </a:r>
            <a:r>
              <a:rPr lang="es-CO" b="1" dirty="0">
                <a:solidFill>
                  <a:srgbClr val="C9AA4D"/>
                </a:solidFill>
                <a:effectLst/>
              </a:rPr>
              <a:t>el costo se reduce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cap="all" dirty="0">
                <a:solidFill>
                  <a:srgbClr val="C9A94E"/>
                </a:solidFill>
                <a:effectLst/>
              </a:rPr>
              <a:t>Pago por uso</a:t>
            </a:r>
            <a:endParaRPr lang="es-CO" sz="1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72396248-7B47-0B66-ED1E-EC12FDB3BA0F}"/>
              </a:ext>
            </a:extLst>
          </p:cNvPr>
          <p:cNvSpPr txBox="1">
            <a:spLocks/>
          </p:cNvSpPr>
          <p:nvPr/>
        </p:nvSpPr>
        <p:spPr>
          <a:xfrm>
            <a:off x="5614416" y="2159753"/>
            <a:ext cx="6028698" cy="91040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MX" sz="1400" b="1" cap="none" dirty="0">
                <a:solidFill>
                  <a:srgbClr val="ACA9A7"/>
                </a:solidFill>
                <a:effectLst/>
              </a:rPr>
              <a:t>El gasto en IA y cómputo adicional se reducen en horas valle.</a:t>
            </a:r>
            <a:endParaRPr lang="es-CO" sz="700" b="1" cap="none" dirty="0">
              <a:solidFill>
                <a:srgbClr val="ACA9A7"/>
              </a:solidFill>
              <a:effectLst/>
            </a:endParaRPr>
          </a:p>
        </p:txBody>
      </p:sp>
      <p:pic>
        <p:nvPicPr>
          <p:cNvPr id="9218" name="Picture 2" descr="pako:eNptkstO6zAQhl9lNOtQnDRJW-sIqdANC1hw2dCwGOJpa5HYyE7KparEs7DnKXgTngQ35zQHIbzyzPz_fDOWN1haxShxUdnHckWugavjwhUGwpnNZx_vBBXdWUfVnzt3eBQLAeTZW8ceqGz02vrbvf58fm7LFcMhLLQBxeC5JkOd8TJkOr1WpHrHdH7Jbq1Lbftunfrz9a0vSGBfUkXKgrGu_jdIUByHQXYURc1O1flpXzydSiit8W3VkAc2sA7Ne-7FN65j1ZZa_UquP96Nrv-XfiDFIIPpyfV3pg979tyeN4ODgyOY9g_VhRcY4dJphbJxLUdYc9huF-JmJyuwWXHNBcpwVeTuCyzMNngeyNxYW-9tzrbLFcoFVT5E7UOYjWealo7qPuvYKHYntjUNykmedE1QbvAJZSzyQZrEw3E-HOXjcZoNI3wO6VgMkkQMR2KSjiYiE8k2wpeOKwajTKTjJMsmiUhjEecRstKNdWd_P1P3p7ZfqPrJIA (559×270)">
            <a:extLst>
              <a:ext uri="{FF2B5EF4-FFF2-40B4-BE49-F238E27FC236}">
                <a16:creationId xmlns:a16="http://schemas.microsoft.com/office/drawing/2014/main" id="{F9ED5D60-92E3-508B-98F2-7A7023EB4C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647" y="2075122"/>
            <a:ext cx="5324475" cy="257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7F75FD76-27FE-2B1D-5970-646D19E50CF3}"/>
              </a:ext>
            </a:extLst>
          </p:cNvPr>
          <p:cNvSpPr txBox="1">
            <a:spLocks/>
          </p:cNvSpPr>
          <p:nvPr/>
        </p:nvSpPr>
        <p:spPr>
          <a:xfrm>
            <a:off x="5614416" y="3360997"/>
            <a:ext cx="2926326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MX" sz="3600" b="1" cap="none" dirty="0">
                <a:solidFill>
                  <a:srgbClr val="C9A94E"/>
                </a:solidFill>
                <a:effectLst/>
              </a:rPr>
              <a:t>100%</a:t>
            </a:r>
          </a:p>
          <a:p>
            <a:pPr marL="0" indent="0" algn="ctr">
              <a:buFont typeface="Arial"/>
              <a:buNone/>
            </a:pPr>
            <a:r>
              <a:rPr lang="es-MX" sz="1000" b="1" cap="none" dirty="0">
                <a:solidFill>
                  <a:srgbClr val="6D7366"/>
                </a:solidFill>
                <a:effectLst/>
              </a:rPr>
              <a:t>Capacidad en horas pico</a:t>
            </a:r>
            <a:endParaRPr lang="es-CO" sz="3600" b="1" cap="none" dirty="0">
              <a:solidFill>
                <a:srgbClr val="6D7366"/>
              </a:solidFill>
              <a:effectLst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86D368EF-2C79-973E-41E6-E1F61CE4B9A9}"/>
              </a:ext>
            </a:extLst>
          </p:cNvPr>
          <p:cNvSpPr txBox="1">
            <a:spLocks/>
          </p:cNvSpPr>
          <p:nvPr/>
        </p:nvSpPr>
        <p:spPr>
          <a:xfrm>
            <a:off x="8716788" y="3348424"/>
            <a:ext cx="2926326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MX" sz="3600" b="1" cap="none" dirty="0">
                <a:solidFill>
                  <a:srgbClr val="5B626B"/>
                </a:solidFill>
                <a:effectLst/>
              </a:rPr>
              <a:t>~40%</a:t>
            </a:r>
          </a:p>
          <a:p>
            <a:pPr marL="0" indent="0" algn="ctr">
              <a:buFont typeface="Arial"/>
              <a:buNone/>
            </a:pPr>
            <a:r>
              <a:rPr lang="es-MX" sz="1000" b="1" cap="none" dirty="0">
                <a:solidFill>
                  <a:srgbClr val="6D7366"/>
                </a:solidFill>
                <a:effectLst/>
              </a:rPr>
              <a:t>Del costo en horas valle</a:t>
            </a:r>
            <a:endParaRPr lang="es-CO" sz="3600" b="1" cap="none" dirty="0">
              <a:solidFill>
                <a:srgbClr val="6D7366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6658071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6534761" cy="770909"/>
          </a:xfrm>
        </p:spPr>
        <p:txBody>
          <a:bodyPr/>
          <a:lstStyle/>
          <a:p>
            <a:r>
              <a:rPr lang="es-CO" b="1" dirty="0">
                <a:effectLst/>
              </a:rPr>
              <a:t>Caché semántico: </a:t>
            </a:r>
            <a:r>
              <a:rPr lang="es-CO" b="1" dirty="0">
                <a:solidFill>
                  <a:srgbClr val="C9AA4D"/>
                </a:solidFill>
                <a:effectLst/>
              </a:rPr>
              <a:t>-68% en IA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68B6BA-CBCC-5770-CE8F-72566ED6C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745" y="2671661"/>
            <a:ext cx="6455663" cy="693331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200" b="1" cap="none" dirty="0">
                <a:solidFill>
                  <a:srgbClr val="ACA9A7"/>
                </a:solidFill>
                <a:effectLst/>
              </a:rPr>
              <a:t>El sistema recuerda preguntas parecidas. Si dos asesores preguntan algo similar, la respuesta se entrega al instante sin que la IA tenga que "pensar" de nuevo</a:t>
            </a:r>
            <a:endParaRPr lang="es-CO" sz="400" b="1" cap="none" dirty="0">
              <a:solidFill>
                <a:srgbClr val="ACA9A7"/>
              </a:solidFill>
              <a:effectLst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cap="all" dirty="0">
                <a:solidFill>
                  <a:srgbClr val="C9A94E"/>
                </a:solidFill>
                <a:effectLst/>
              </a:rPr>
              <a:t>Ahorro inteligente</a:t>
            </a:r>
            <a:endParaRPr lang="es-CO" sz="1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84EC290-B38A-5025-FDC7-C01A2E4A0D92}"/>
              </a:ext>
            </a:extLst>
          </p:cNvPr>
          <p:cNvSpPr txBox="1">
            <a:spLocks/>
          </p:cNvSpPr>
          <p:nvPr/>
        </p:nvSpPr>
        <p:spPr>
          <a:xfrm>
            <a:off x="237745" y="3685032"/>
            <a:ext cx="3096000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MX" sz="3600" b="1" cap="none" dirty="0">
                <a:solidFill>
                  <a:srgbClr val="7AB07E"/>
                </a:solidFill>
                <a:effectLst/>
              </a:rPr>
              <a:t>68%</a:t>
            </a:r>
          </a:p>
          <a:p>
            <a:pPr marL="0" indent="0" algn="ctr">
              <a:buFont typeface="Arial"/>
              <a:buNone/>
            </a:pPr>
            <a:r>
              <a:rPr lang="es-MX" sz="1000" b="1" cap="none" dirty="0">
                <a:solidFill>
                  <a:srgbClr val="6D7366"/>
                </a:solidFill>
                <a:effectLst/>
              </a:rPr>
              <a:t>menos llamadas a la IA</a:t>
            </a:r>
            <a:endParaRPr lang="es-CO" sz="3600" b="1" cap="none" dirty="0">
              <a:solidFill>
                <a:srgbClr val="6D7366"/>
              </a:solidFill>
              <a:effectLst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487CAFA8-CF97-5803-DEAB-B391EBEE62C6}"/>
              </a:ext>
            </a:extLst>
          </p:cNvPr>
          <p:cNvSpPr txBox="1">
            <a:spLocks/>
          </p:cNvSpPr>
          <p:nvPr/>
        </p:nvSpPr>
        <p:spPr>
          <a:xfrm>
            <a:off x="3597408" y="3685032"/>
            <a:ext cx="3096000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MX" sz="3600" b="1" cap="none" dirty="0">
                <a:solidFill>
                  <a:srgbClr val="C9A94E"/>
                </a:solidFill>
                <a:effectLst/>
              </a:rPr>
              <a:t>&lt;10MS</a:t>
            </a:r>
          </a:p>
          <a:p>
            <a:pPr marL="0" indent="0" algn="ctr">
              <a:buFont typeface="Arial"/>
              <a:buNone/>
            </a:pPr>
            <a:r>
              <a:rPr lang="es-MX" sz="1000" b="1" cap="none" dirty="0">
                <a:solidFill>
                  <a:srgbClr val="6D7366"/>
                </a:solidFill>
                <a:effectLst/>
              </a:rPr>
              <a:t>Respuesta en caché</a:t>
            </a:r>
            <a:endParaRPr lang="es-CO" sz="3600" b="1" cap="none" dirty="0">
              <a:solidFill>
                <a:srgbClr val="6D7366"/>
              </a:solidFill>
              <a:effectLst/>
            </a:endParaRP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9C056277-AB29-65D1-82C8-D329865EFC2B}"/>
              </a:ext>
            </a:extLst>
          </p:cNvPr>
          <p:cNvGrpSpPr/>
          <p:nvPr/>
        </p:nvGrpSpPr>
        <p:grpSpPr>
          <a:xfrm>
            <a:off x="6957071" y="1502738"/>
            <a:ext cx="4742111" cy="5058796"/>
            <a:chOff x="6957071" y="1634713"/>
            <a:chExt cx="4742111" cy="5058796"/>
          </a:xfrm>
        </p:grpSpPr>
        <p:sp>
          <p:nvSpPr>
            <p:cNvPr id="11" name="Marcador de contenido 2">
              <a:extLst>
                <a:ext uri="{FF2B5EF4-FFF2-40B4-BE49-F238E27FC236}">
                  <a16:creationId xmlns:a16="http://schemas.microsoft.com/office/drawing/2014/main" id="{521E797A-7A49-0245-25DD-5385A19EC4CA}"/>
                </a:ext>
              </a:extLst>
            </p:cNvPr>
            <p:cNvSpPr txBox="1">
              <a:spLocks/>
            </p:cNvSpPr>
            <p:nvPr/>
          </p:nvSpPr>
          <p:spPr>
            <a:xfrm>
              <a:off x="6957071" y="1634713"/>
              <a:ext cx="4742111" cy="5058796"/>
            </a:xfrm>
            <a:prstGeom prst="roundRect">
              <a:avLst>
                <a:gd name="adj" fmla="val 4035"/>
              </a:avLst>
            </a:prstGeom>
            <a:solidFill>
              <a:srgbClr val="252E3C">
                <a:alpha val="50000"/>
              </a:srgbClr>
            </a:solidFill>
            <a:ln>
              <a:solidFill>
                <a:srgbClr val="343A3E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857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20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8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2pPr>
              <a:lvl3pPr marL="12001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6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3pPr>
              <a:lvl4pPr marL="15430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4pPr>
              <a:lvl5pPr marL="20002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/>
                <a:buNone/>
              </a:pPr>
              <a:endParaRPr lang="es-CO" sz="3600" b="1" cap="none" dirty="0">
                <a:solidFill>
                  <a:srgbClr val="6D7366"/>
                </a:solidFill>
                <a:effectLst/>
              </a:endParaRPr>
            </a:p>
          </p:txBody>
        </p:sp>
        <p:pic>
          <p:nvPicPr>
            <p:cNvPr id="7170" name="Picture 2">
              <a:extLst>
                <a:ext uri="{FF2B5EF4-FFF2-40B4-BE49-F238E27FC236}">
                  <a16:creationId xmlns:a16="http://schemas.microsoft.com/office/drawing/2014/main" id="{81D02AAD-08C4-138A-A152-5D11B3D1AC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41394" y="1664309"/>
              <a:ext cx="4572000" cy="5029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864658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8458051" cy="770909"/>
          </a:xfrm>
        </p:spPr>
        <p:txBody>
          <a:bodyPr>
            <a:normAutofit fontScale="90000"/>
          </a:bodyPr>
          <a:lstStyle/>
          <a:p>
            <a:r>
              <a:rPr lang="es-CO" b="1" dirty="0">
                <a:effectLst/>
              </a:rPr>
              <a:t>Cada pregunta gasta </a:t>
            </a:r>
            <a:r>
              <a:rPr lang="es-CO" b="1" dirty="0">
                <a:solidFill>
                  <a:srgbClr val="C9AA4D"/>
                </a:solidFill>
                <a:effectLst/>
              </a:rPr>
              <a:t>justo lo necesario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68B6BA-CBCC-5770-CE8F-72566ED6C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8889" y="2622544"/>
            <a:ext cx="6455663" cy="693331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1200" b="1" cap="none" dirty="0">
                <a:solidFill>
                  <a:srgbClr val="ACA9A7"/>
                </a:solidFill>
                <a:effectLst/>
              </a:rPr>
              <a:t>Costo promedio baja de ~$10K COP por millón de tokens a ~$3.5K COP por millón de tokens</a:t>
            </a:r>
            <a:endParaRPr lang="es-CO" sz="400" b="1" cap="none" dirty="0">
              <a:solidFill>
                <a:srgbClr val="ACA9A7"/>
              </a:solidFill>
              <a:effectLst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cap="all" dirty="0">
                <a:solidFill>
                  <a:srgbClr val="C9A94E"/>
                </a:solidFill>
                <a:effectLst/>
              </a:rPr>
              <a:t>Inteligencia eficiente</a:t>
            </a:r>
            <a:endParaRPr lang="es-CO" sz="1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84EC290-B38A-5025-FDC7-C01A2E4A0D92}"/>
              </a:ext>
            </a:extLst>
          </p:cNvPr>
          <p:cNvSpPr txBox="1">
            <a:spLocks/>
          </p:cNvSpPr>
          <p:nvPr/>
        </p:nvSpPr>
        <p:spPr>
          <a:xfrm>
            <a:off x="8178552" y="3542126"/>
            <a:ext cx="3096000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CO" sz="1000" b="0" i="0" cap="all" dirty="0">
                <a:solidFill>
                  <a:srgbClr val="ACA9A7"/>
                </a:solidFill>
                <a:effectLst/>
              </a:rPr>
              <a:t>Con </a:t>
            </a:r>
            <a:r>
              <a:rPr lang="es-CO" sz="1000" b="0" i="0" cap="all" dirty="0" err="1">
                <a:solidFill>
                  <a:srgbClr val="ACA9A7"/>
                </a:solidFill>
                <a:effectLst/>
              </a:rPr>
              <a:t>routing</a:t>
            </a:r>
            <a:endParaRPr lang="es-MX" sz="1100" b="1" cap="none" dirty="0">
              <a:solidFill>
                <a:srgbClr val="ACA9A7"/>
              </a:solidFill>
              <a:effectLst/>
            </a:endParaRPr>
          </a:p>
          <a:p>
            <a:pPr marL="0" indent="0" algn="ctr">
              <a:buFont typeface="Arial"/>
              <a:buNone/>
            </a:pPr>
            <a:r>
              <a:rPr lang="es-MX" sz="3600" b="1" cap="none" dirty="0">
                <a:solidFill>
                  <a:srgbClr val="7AB07E"/>
                </a:solidFill>
                <a:effectLst/>
              </a:rPr>
              <a:t>~3.5K COP</a:t>
            </a:r>
          </a:p>
          <a:p>
            <a:pPr marL="0" indent="0" algn="ctr">
              <a:buFont typeface="Arial"/>
              <a:buNone/>
            </a:pPr>
            <a:r>
              <a:rPr lang="es-MX" sz="1000" b="1" cap="none" dirty="0">
                <a:solidFill>
                  <a:srgbClr val="6D7366"/>
                </a:solidFill>
                <a:effectLst/>
              </a:rPr>
              <a:t>Justo lo necesario</a:t>
            </a:r>
            <a:endParaRPr lang="es-CO" sz="3600" b="1" cap="none" dirty="0">
              <a:solidFill>
                <a:srgbClr val="6D7366"/>
              </a:solidFill>
              <a:effectLst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487CAFA8-CF97-5803-DEAB-B391EBEE62C6}"/>
              </a:ext>
            </a:extLst>
          </p:cNvPr>
          <p:cNvSpPr txBox="1">
            <a:spLocks/>
          </p:cNvSpPr>
          <p:nvPr/>
        </p:nvSpPr>
        <p:spPr>
          <a:xfrm>
            <a:off x="4818889" y="3542126"/>
            <a:ext cx="3096000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CO" sz="1000" b="0" i="0" cap="all" dirty="0">
                <a:solidFill>
                  <a:srgbClr val="ACA9A7"/>
                </a:solidFill>
                <a:effectLst/>
              </a:rPr>
              <a:t>Sin </a:t>
            </a:r>
            <a:r>
              <a:rPr lang="es-CO" sz="1000" b="0" i="0" cap="all" dirty="0" err="1">
                <a:solidFill>
                  <a:srgbClr val="ACA9A7"/>
                </a:solidFill>
                <a:effectLst/>
              </a:rPr>
              <a:t>routing</a:t>
            </a:r>
            <a:endParaRPr lang="es-MX" sz="1000" b="1" cap="none" dirty="0">
              <a:solidFill>
                <a:srgbClr val="ACA9A7"/>
              </a:solidFill>
              <a:effectLst/>
            </a:endParaRPr>
          </a:p>
          <a:p>
            <a:pPr marL="0" indent="0" algn="ctr">
              <a:buFont typeface="Arial"/>
              <a:buNone/>
            </a:pPr>
            <a:r>
              <a:rPr lang="es-MX" sz="3600" b="1" cap="none" dirty="0">
                <a:solidFill>
                  <a:srgbClr val="E85050"/>
                </a:solidFill>
                <a:effectLst/>
              </a:rPr>
              <a:t>~10K COP</a:t>
            </a:r>
          </a:p>
          <a:p>
            <a:pPr marL="0" indent="0" algn="ctr">
              <a:buFont typeface="Arial"/>
              <a:buNone/>
            </a:pPr>
            <a:r>
              <a:rPr lang="es-MX" sz="1000" b="1" cap="none" dirty="0">
                <a:solidFill>
                  <a:srgbClr val="6D7366"/>
                </a:solidFill>
                <a:effectLst/>
              </a:rPr>
              <a:t>Todo al modelo caro</a:t>
            </a:r>
            <a:endParaRPr lang="es-CO" sz="3600" b="1" cap="none" dirty="0">
              <a:solidFill>
                <a:srgbClr val="6D7366"/>
              </a:solidFill>
              <a:effectLst/>
            </a:endParaRP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5E01CCDB-3DC9-E3CB-6E29-A3E8A8F1462B}"/>
              </a:ext>
            </a:extLst>
          </p:cNvPr>
          <p:cNvGrpSpPr/>
          <p:nvPr/>
        </p:nvGrpSpPr>
        <p:grpSpPr>
          <a:xfrm>
            <a:off x="646176" y="1543172"/>
            <a:ext cx="3909049" cy="5058796"/>
            <a:chOff x="646176" y="1543172"/>
            <a:chExt cx="3909049" cy="5058796"/>
          </a:xfrm>
        </p:grpSpPr>
        <p:sp>
          <p:nvSpPr>
            <p:cNvPr id="9" name="Marcador de contenido 2">
              <a:extLst>
                <a:ext uri="{FF2B5EF4-FFF2-40B4-BE49-F238E27FC236}">
                  <a16:creationId xmlns:a16="http://schemas.microsoft.com/office/drawing/2014/main" id="{35062B6F-D629-1E0F-14B7-583648DD59D6}"/>
                </a:ext>
              </a:extLst>
            </p:cNvPr>
            <p:cNvSpPr txBox="1">
              <a:spLocks/>
            </p:cNvSpPr>
            <p:nvPr/>
          </p:nvSpPr>
          <p:spPr>
            <a:xfrm>
              <a:off x="646176" y="1543172"/>
              <a:ext cx="3909049" cy="5058796"/>
            </a:xfrm>
            <a:prstGeom prst="roundRect">
              <a:avLst>
                <a:gd name="adj" fmla="val 4035"/>
              </a:avLst>
            </a:prstGeom>
            <a:solidFill>
              <a:srgbClr val="252E3C">
                <a:alpha val="50000"/>
              </a:srgbClr>
            </a:solidFill>
            <a:ln>
              <a:solidFill>
                <a:srgbClr val="343A3E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857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20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8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2pPr>
              <a:lvl3pPr marL="12001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6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3pPr>
              <a:lvl4pPr marL="15430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4pPr>
              <a:lvl5pPr marL="20002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/>
                <a:buNone/>
              </a:pPr>
              <a:endParaRPr lang="es-CO" sz="3600" b="1" cap="none" dirty="0">
                <a:solidFill>
                  <a:srgbClr val="6D7366"/>
                </a:solidFill>
                <a:effectLst/>
              </a:endParaRPr>
            </a:p>
          </p:txBody>
        </p:sp>
        <p:pic>
          <p:nvPicPr>
            <p:cNvPr id="6146" name="Picture 2">
              <a:extLst>
                <a:ext uri="{FF2B5EF4-FFF2-40B4-BE49-F238E27FC236}">
                  <a16:creationId xmlns:a16="http://schemas.microsoft.com/office/drawing/2014/main" id="{7878FC6D-78AE-5A3F-1E1E-F3423D6F69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8960" y="1664309"/>
              <a:ext cx="3486562" cy="47072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6888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8458051" cy="770909"/>
          </a:xfrm>
        </p:spPr>
        <p:txBody>
          <a:bodyPr>
            <a:normAutofit fontScale="90000"/>
          </a:bodyPr>
          <a:lstStyle/>
          <a:p>
            <a:r>
              <a:rPr lang="es-CO" b="1" dirty="0">
                <a:effectLst/>
              </a:rPr>
              <a:t>Los datos del cliente </a:t>
            </a:r>
            <a:r>
              <a:rPr lang="es-CO" b="1" dirty="0">
                <a:solidFill>
                  <a:srgbClr val="C9AA4D"/>
                </a:solidFill>
                <a:effectLst/>
              </a:rPr>
              <a:t>nunca se exponen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cap="all" dirty="0">
                <a:solidFill>
                  <a:srgbClr val="C9A94E"/>
                </a:solidFill>
                <a:effectLst/>
              </a:rPr>
              <a:t>Ahorro inteligente</a:t>
            </a:r>
            <a:endParaRPr lang="es-CO" sz="1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2F60BB04-86E3-57E2-F330-9B45E556EF75}"/>
              </a:ext>
            </a:extLst>
          </p:cNvPr>
          <p:cNvGrpSpPr/>
          <p:nvPr/>
        </p:nvGrpSpPr>
        <p:grpSpPr>
          <a:xfrm>
            <a:off x="1479232" y="2220779"/>
            <a:ext cx="8972359" cy="1051459"/>
            <a:chOff x="1451800" y="1664308"/>
            <a:chExt cx="8972359" cy="1051459"/>
          </a:xfrm>
        </p:grpSpPr>
        <p:sp>
          <p:nvSpPr>
            <p:cNvPr id="9" name="Marcador de contenido 2">
              <a:extLst>
                <a:ext uri="{FF2B5EF4-FFF2-40B4-BE49-F238E27FC236}">
                  <a16:creationId xmlns:a16="http://schemas.microsoft.com/office/drawing/2014/main" id="{59A7376B-0F24-F3A9-D14C-FF7A6810B801}"/>
                </a:ext>
              </a:extLst>
            </p:cNvPr>
            <p:cNvSpPr txBox="1">
              <a:spLocks/>
            </p:cNvSpPr>
            <p:nvPr/>
          </p:nvSpPr>
          <p:spPr>
            <a:xfrm>
              <a:off x="1451800" y="1664308"/>
              <a:ext cx="8972359" cy="1051459"/>
            </a:xfrm>
            <a:prstGeom prst="roundRect">
              <a:avLst>
                <a:gd name="adj" fmla="val 4035"/>
              </a:avLst>
            </a:prstGeom>
            <a:solidFill>
              <a:srgbClr val="252E3C">
                <a:alpha val="50000"/>
              </a:srgbClr>
            </a:solidFill>
            <a:ln>
              <a:solidFill>
                <a:srgbClr val="343A3E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857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20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8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2pPr>
              <a:lvl3pPr marL="12001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6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3pPr>
              <a:lvl4pPr marL="15430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4pPr>
              <a:lvl5pPr marL="20002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/>
                <a:buNone/>
              </a:pPr>
              <a:endParaRPr lang="es-CO" sz="3600" b="1" cap="none" dirty="0">
                <a:solidFill>
                  <a:srgbClr val="6D7366"/>
                </a:solidFill>
                <a:effectLst/>
              </a:endParaRPr>
            </a:p>
          </p:txBody>
        </p:sp>
        <p:pic>
          <p:nvPicPr>
            <p:cNvPr id="4098" name="Picture 2">
              <a:extLst>
                <a:ext uri="{FF2B5EF4-FFF2-40B4-BE49-F238E27FC236}">
                  <a16:creationId xmlns:a16="http://schemas.microsoft.com/office/drawing/2014/main" id="{4F08C418-B3DC-9635-22BB-C581C8D281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51801" y="1727194"/>
              <a:ext cx="8867775" cy="8953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9CB5784B-AD80-53B7-2134-24B195332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79232" y="3537416"/>
            <a:ext cx="8985907" cy="770909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MX" sz="1600" b="1" cap="all" dirty="0">
                <a:solidFill>
                  <a:srgbClr val="C9AA4D"/>
                </a:solidFill>
                <a:effectLst/>
              </a:rPr>
              <a:t>Cumplimiento Ley 1581 de 2012</a:t>
            </a:r>
          </a:p>
          <a:p>
            <a:pPr marL="0" indent="0">
              <a:buNone/>
            </a:pPr>
            <a:r>
              <a:rPr lang="es-MX" sz="1200" cap="none" dirty="0">
                <a:solidFill>
                  <a:srgbClr val="ACA9A7"/>
                </a:solidFill>
                <a:effectLst/>
              </a:rPr>
              <a:t>La ley colombiana exige proteger los datos personales. El sistema lo hace automáticamente. El asesor no tiene que preocuparse.</a:t>
            </a: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33817937-E4A9-2FCD-5848-A37E61BAC55B}"/>
              </a:ext>
            </a:extLst>
          </p:cNvPr>
          <p:cNvSpPr txBox="1">
            <a:spLocks/>
          </p:cNvSpPr>
          <p:nvPr/>
        </p:nvSpPr>
        <p:spPr>
          <a:xfrm>
            <a:off x="1479231" y="4503632"/>
            <a:ext cx="8985907" cy="770909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MX" sz="1600" b="1" cap="all" dirty="0">
                <a:solidFill>
                  <a:srgbClr val="C9AA4D"/>
                </a:solidFill>
                <a:effectLst/>
              </a:rPr>
              <a:t>Filtro automático de datos sensibles</a:t>
            </a:r>
          </a:p>
          <a:p>
            <a:pPr marL="0" indent="0">
              <a:buFont typeface="Arial"/>
              <a:buNone/>
            </a:pPr>
            <a:r>
              <a:rPr lang="es-MX" sz="1200" cap="none" dirty="0">
                <a:solidFill>
                  <a:srgbClr val="ACA9A7"/>
                </a:solidFill>
                <a:effectLst/>
              </a:rPr>
              <a:t>Nombres, documentos, teléfonos y direcciones se eliminan antes de llegar a la IA. El LLM nunca recibe información personal de los clientes.</a:t>
            </a:r>
          </a:p>
        </p:txBody>
      </p:sp>
    </p:spTree>
    <p:extLst>
      <p:ext uri="{BB962C8B-B14F-4D97-AF65-F5344CB8AC3E}">
        <p14:creationId xmlns:p14="http://schemas.microsoft.com/office/powerpoint/2010/main" val="2118990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8458051" cy="770909"/>
          </a:xfrm>
        </p:spPr>
        <p:txBody>
          <a:bodyPr>
            <a:normAutofit/>
          </a:bodyPr>
          <a:lstStyle/>
          <a:p>
            <a:r>
              <a:rPr lang="es-CO" b="1" dirty="0">
                <a:effectLst/>
              </a:rPr>
              <a:t>Disponibilidad y tiempos </a:t>
            </a:r>
            <a:r>
              <a:rPr lang="es-CO" b="1" dirty="0">
                <a:solidFill>
                  <a:srgbClr val="C9AA4D"/>
                </a:solidFill>
                <a:effectLst/>
              </a:rPr>
              <a:t>de respuesta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cap="all" dirty="0">
                <a:solidFill>
                  <a:srgbClr val="C9A94E"/>
                </a:solidFill>
                <a:effectLst/>
              </a:rPr>
              <a:t>Garantías contractuales</a:t>
            </a:r>
            <a:endParaRPr lang="es-CO" sz="1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108F7BA-F790-6DE1-9840-A07BCA3D484D}"/>
              </a:ext>
            </a:extLst>
          </p:cNvPr>
          <p:cNvSpPr txBox="1">
            <a:spLocks/>
          </p:cNvSpPr>
          <p:nvPr/>
        </p:nvSpPr>
        <p:spPr>
          <a:xfrm>
            <a:off x="1014835" y="2196173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CO" sz="4000" b="1" cap="none" dirty="0">
                <a:solidFill>
                  <a:srgbClr val="C9A94E"/>
                </a:solidFill>
                <a:effectLst/>
              </a:rPr>
              <a:t>99.5%</a:t>
            </a:r>
            <a:endParaRPr lang="es-CO" sz="1800" b="1" cap="none" dirty="0">
              <a:solidFill>
                <a:srgbClr val="C9A94E"/>
              </a:solidFill>
              <a:effectLst/>
            </a:endParaRPr>
          </a:p>
          <a:p>
            <a:pPr marL="0" indent="0" algn="ctr">
              <a:buFont typeface="Arial"/>
              <a:buNone/>
            </a:pPr>
            <a:r>
              <a:rPr lang="es-CO" sz="1000" b="1" cap="none" dirty="0">
                <a:solidFill>
                  <a:srgbClr val="797C75"/>
                </a:solidFill>
                <a:effectLst/>
              </a:rPr>
              <a:t>Disponibilidad mensual</a:t>
            </a:r>
          </a:p>
          <a:p>
            <a:pPr marL="0" indent="0" algn="ctr">
              <a:buFont typeface="Arial"/>
              <a:buNone/>
            </a:pPr>
            <a:r>
              <a:rPr lang="es-MX" sz="900" cap="none" dirty="0">
                <a:solidFill>
                  <a:srgbClr val="797C75"/>
                </a:solidFill>
                <a:effectLst/>
              </a:rPr>
              <a:t>&lt; 3.5h de interrupción al mes</a:t>
            </a:r>
            <a:endParaRPr lang="es-CO" sz="900" cap="none" dirty="0">
              <a:solidFill>
                <a:srgbClr val="797C75"/>
              </a:solidFill>
              <a:effectLst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644AC0D-44DB-8C84-AFB8-49FAAFBB94A7}"/>
              </a:ext>
            </a:extLst>
          </p:cNvPr>
          <p:cNvSpPr txBox="1"/>
          <p:nvPr/>
        </p:nvSpPr>
        <p:spPr>
          <a:xfrm>
            <a:off x="1014834" y="5076539"/>
            <a:ext cx="9791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100" i="1" dirty="0">
                <a:solidFill>
                  <a:srgbClr val="505352"/>
                </a:solidFill>
                <a:latin typeface="+mj-lt"/>
              </a:rPr>
              <a:t>* El tiempo de respuesta varía según la complejidad de la consulta y el tamaño del contexto de la conversación. Preguntas simples con caché se responden en milisegundos. Consultas con contexto extenso o análisis profundo pueden tomar más tiempo, ya que dependen de los tiempos de procesamiento del modelo de IA. A mayor volumen de conversación histórica y más compleja la pregunta, mayor será el tiempo de respuesta del modelo. Este comportamiento es estándar en todos los sistemas de IA conversacional.</a:t>
            </a:r>
            <a:endParaRPr lang="es-CO" sz="1100" i="1" dirty="0">
              <a:solidFill>
                <a:srgbClr val="505352"/>
              </a:solidFill>
              <a:latin typeface="+mj-lt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9BCD3101-95B0-7061-0A23-EABB8D5FBA0A}"/>
              </a:ext>
            </a:extLst>
          </p:cNvPr>
          <p:cNvSpPr txBox="1">
            <a:spLocks/>
          </p:cNvSpPr>
          <p:nvPr/>
        </p:nvSpPr>
        <p:spPr>
          <a:xfrm>
            <a:off x="6068566" y="2196173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CO" sz="4000" b="1" cap="none" dirty="0">
                <a:solidFill>
                  <a:srgbClr val="C9A94E"/>
                </a:solidFill>
                <a:effectLst/>
              </a:rPr>
              <a:t>&lt; 3s</a:t>
            </a:r>
          </a:p>
          <a:p>
            <a:pPr marL="0" indent="0" algn="ctr">
              <a:buFont typeface="Arial"/>
              <a:buNone/>
            </a:pPr>
            <a:r>
              <a:rPr lang="es-CO" sz="1000" b="1" cap="none" dirty="0">
                <a:solidFill>
                  <a:srgbClr val="797C75"/>
                </a:solidFill>
                <a:effectLst/>
              </a:rPr>
              <a:t>Respuesta en consultas típicas*</a:t>
            </a:r>
          </a:p>
          <a:p>
            <a:pPr marL="0" indent="0" algn="ctr">
              <a:buFont typeface="Arial"/>
              <a:buNone/>
            </a:pPr>
            <a:r>
              <a:rPr lang="es-MX" sz="900" cap="none" dirty="0">
                <a:solidFill>
                  <a:srgbClr val="797C75"/>
                </a:solidFill>
                <a:effectLst/>
              </a:rPr>
              <a:t>95% de consultas respondidas en &lt;3s</a:t>
            </a:r>
            <a:endParaRPr lang="es-CO" sz="900" cap="none" dirty="0">
              <a:solidFill>
                <a:srgbClr val="797C75"/>
              </a:solidFill>
              <a:effectLst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2632D9B3-D41D-2515-4EFC-2E64F032957B}"/>
              </a:ext>
            </a:extLst>
          </p:cNvPr>
          <p:cNvSpPr txBox="1">
            <a:spLocks/>
          </p:cNvSpPr>
          <p:nvPr/>
        </p:nvSpPr>
        <p:spPr>
          <a:xfrm>
            <a:off x="1014835" y="3668360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CO" sz="4000" b="1" cap="none" dirty="0">
                <a:solidFill>
                  <a:srgbClr val="C9A94E"/>
                </a:solidFill>
                <a:effectLst/>
              </a:rPr>
              <a:t>8h</a:t>
            </a:r>
            <a:endParaRPr lang="es-CO" sz="1800" b="1" cap="none" dirty="0">
              <a:solidFill>
                <a:srgbClr val="C9A94E"/>
              </a:solidFill>
              <a:effectLst/>
            </a:endParaRPr>
          </a:p>
          <a:p>
            <a:pPr marL="0" indent="0" algn="ctr">
              <a:buFont typeface="Arial"/>
              <a:buNone/>
            </a:pPr>
            <a:r>
              <a:rPr lang="es-CO" sz="1000" b="1" cap="none" dirty="0">
                <a:solidFill>
                  <a:srgbClr val="797C75"/>
                </a:solidFill>
                <a:effectLst/>
              </a:rPr>
              <a:t>Incidentes críticos</a:t>
            </a:r>
          </a:p>
          <a:p>
            <a:pPr marL="0" indent="0" algn="ctr">
              <a:buFont typeface="Arial"/>
              <a:buNone/>
            </a:pPr>
            <a:r>
              <a:rPr lang="es-MX" sz="900" cap="none" dirty="0">
                <a:solidFill>
                  <a:srgbClr val="797C75"/>
                </a:solidFill>
                <a:effectLst/>
              </a:rPr>
              <a:t>Resolución en horario laboral</a:t>
            </a:r>
            <a:endParaRPr lang="es-CO" sz="900" cap="none" dirty="0">
              <a:solidFill>
                <a:srgbClr val="797C75"/>
              </a:solidFill>
              <a:effectLst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8FBE628A-CBD9-F46B-4029-01ACCC14042C}"/>
              </a:ext>
            </a:extLst>
          </p:cNvPr>
          <p:cNvSpPr txBox="1">
            <a:spLocks/>
          </p:cNvSpPr>
          <p:nvPr/>
        </p:nvSpPr>
        <p:spPr>
          <a:xfrm>
            <a:off x="6068565" y="3668360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CO" sz="4000" b="1" cap="none" dirty="0">
                <a:solidFill>
                  <a:srgbClr val="C9A94E"/>
                </a:solidFill>
                <a:effectLst/>
              </a:rPr>
              <a:t>Diario</a:t>
            </a:r>
          </a:p>
          <a:p>
            <a:pPr marL="0" indent="0" algn="ctr">
              <a:buFont typeface="Arial"/>
              <a:buNone/>
            </a:pPr>
            <a:r>
              <a:rPr lang="es-CO" sz="1000" b="1" cap="none" dirty="0" err="1">
                <a:solidFill>
                  <a:srgbClr val="797C75"/>
                </a:solidFill>
                <a:effectLst/>
              </a:rPr>
              <a:t>Backups</a:t>
            </a:r>
            <a:r>
              <a:rPr lang="es-CO" sz="1000" b="1" cap="none" dirty="0">
                <a:solidFill>
                  <a:srgbClr val="797C75"/>
                </a:solidFill>
                <a:effectLst/>
              </a:rPr>
              <a:t> automáticos</a:t>
            </a:r>
          </a:p>
          <a:p>
            <a:pPr marL="0" indent="0" algn="ctr">
              <a:buFont typeface="Arial"/>
              <a:buNone/>
            </a:pPr>
            <a:r>
              <a:rPr lang="es-MX" sz="900" cap="none" dirty="0">
                <a:solidFill>
                  <a:srgbClr val="797C75"/>
                </a:solidFill>
                <a:effectLst/>
              </a:rPr>
              <a:t>Sin intervención manual</a:t>
            </a:r>
            <a:endParaRPr lang="es-CO" sz="900" cap="none" dirty="0">
              <a:solidFill>
                <a:srgbClr val="797C75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7607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8458051" cy="770909"/>
          </a:xfrm>
        </p:spPr>
        <p:txBody>
          <a:bodyPr>
            <a:normAutofit/>
          </a:bodyPr>
          <a:lstStyle/>
          <a:p>
            <a:r>
              <a:rPr lang="es-CO" b="1" dirty="0">
                <a:effectLst/>
              </a:rPr>
              <a:t>Monitoreo 24/7, </a:t>
            </a:r>
            <a:r>
              <a:rPr lang="es-CO" b="1" dirty="0">
                <a:solidFill>
                  <a:srgbClr val="C9AA4D"/>
                </a:solidFill>
                <a:effectLst/>
              </a:rPr>
              <a:t>alertas tempranas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cap="all" dirty="0">
                <a:solidFill>
                  <a:srgbClr val="C9A94E"/>
                </a:solidFill>
                <a:effectLst/>
              </a:rPr>
              <a:t>Control total</a:t>
            </a:r>
            <a:endParaRPr lang="es-CO" sz="1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BE830663-D427-9AAE-FADB-703684E631AF}"/>
              </a:ext>
            </a:extLst>
          </p:cNvPr>
          <p:cNvGrpSpPr/>
          <p:nvPr/>
        </p:nvGrpSpPr>
        <p:grpSpPr>
          <a:xfrm>
            <a:off x="1399031" y="1826189"/>
            <a:ext cx="2642617" cy="4656907"/>
            <a:chOff x="804671" y="1826188"/>
            <a:chExt cx="2642617" cy="4656907"/>
          </a:xfrm>
        </p:grpSpPr>
        <p:sp>
          <p:nvSpPr>
            <p:cNvPr id="3" name="Marcador de contenido 2">
              <a:extLst>
                <a:ext uri="{FF2B5EF4-FFF2-40B4-BE49-F238E27FC236}">
                  <a16:creationId xmlns:a16="http://schemas.microsoft.com/office/drawing/2014/main" id="{3B00D81C-2BA1-9BE5-EEF8-AE466F4829BD}"/>
                </a:ext>
              </a:extLst>
            </p:cNvPr>
            <p:cNvSpPr txBox="1">
              <a:spLocks/>
            </p:cNvSpPr>
            <p:nvPr/>
          </p:nvSpPr>
          <p:spPr>
            <a:xfrm>
              <a:off x="804671" y="1826188"/>
              <a:ext cx="2642617" cy="4656907"/>
            </a:xfrm>
            <a:prstGeom prst="roundRect">
              <a:avLst>
                <a:gd name="adj" fmla="val 4035"/>
              </a:avLst>
            </a:prstGeom>
            <a:solidFill>
              <a:srgbClr val="252E3C">
                <a:alpha val="50000"/>
              </a:srgbClr>
            </a:solidFill>
            <a:ln>
              <a:solidFill>
                <a:srgbClr val="343A3E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857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20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8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2pPr>
              <a:lvl3pPr marL="12001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6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3pPr>
              <a:lvl4pPr marL="15430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4pPr>
              <a:lvl5pPr marL="20002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/>
                <a:buNone/>
              </a:pPr>
              <a:endParaRPr lang="es-CO" sz="3600" b="1" cap="none" dirty="0">
                <a:solidFill>
                  <a:srgbClr val="6D7366"/>
                </a:solidFill>
                <a:effectLst/>
              </a:endParaRPr>
            </a:p>
          </p:txBody>
        </p:sp>
        <p:pic>
          <p:nvPicPr>
            <p:cNvPr id="10242" name="Picture 2">
              <a:extLst>
                <a:ext uri="{FF2B5EF4-FFF2-40B4-BE49-F238E27FC236}">
                  <a16:creationId xmlns:a16="http://schemas.microsoft.com/office/drawing/2014/main" id="{4D4BDC9B-5931-736E-D457-22F16F9D9B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9554" y="1959944"/>
              <a:ext cx="2219325" cy="43243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032DF310-74DA-F707-CE0B-0DCB664CD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7824" y="2274261"/>
            <a:ext cx="5202965" cy="68839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s-CO" sz="1400" b="1" cap="all" dirty="0">
                <a:solidFill>
                  <a:srgbClr val="C9AA4D"/>
                </a:solidFill>
                <a:effectLst/>
              </a:rPr>
              <a:t>Visibilidad en tiempo real</a:t>
            </a:r>
          </a:p>
          <a:p>
            <a:pPr marL="0" indent="0">
              <a:buNone/>
            </a:pPr>
            <a:r>
              <a:rPr lang="es-MX" sz="1300" cap="none" dirty="0">
                <a:solidFill>
                  <a:srgbClr val="ACA9A7"/>
                </a:solidFill>
                <a:effectLst/>
              </a:rPr>
              <a:t>Cuántos asesores usan el sistema, qué preguntan, cuánto cuesta cada consulta.</a:t>
            </a:r>
            <a:endParaRPr lang="es-CO" sz="1300" cap="all" dirty="0">
              <a:solidFill>
                <a:srgbClr val="ACA9A7"/>
              </a:solidFill>
              <a:effectLst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5EC9AFA4-8CFC-4223-868D-574F207BBC41}"/>
              </a:ext>
            </a:extLst>
          </p:cNvPr>
          <p:cNvSpPr txBox="1">
            <a:spLocks/>
          </p:cNvSpPr>
          <p:nvPr/>
        </p:nvSpPr>
        <p:spPr>
          <a:xfrm>
            <a:off x="4687823" y="3206950"/>
            <a:ext cx="5202965" cy="68839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CO" sz="1400" b="1" cap="all" dirty="0">
                <a:solidFill>
                  <a:srgbClr val="C9AA4D"/>
                </a:solidFill>
                <a:effectLst/>
              </a:rPr>
              <a:t>Alertas antes del problema</a:t>
            </a:r>
          </a:p>
          <a:p>
            <a:pPr marL="0" indent="0">
              <a:buFont typeface="Arial"/>
              <a:buNone/>
            </a:pPr>
            <a:r>
              <a:rPr lang="es-MX" sz="1300" cap="none" dirty="0">
                <a:solidFill>
                  <a:srgbClr val="ACA9A7"/>
                </a:solidFill>
                <a:effectLst/>
              </a:rPr>
              <a:t>Si el sistema detecta lentitud o errores, avisa al equipo técnico antes de que los asesores se vean afectados.</a:t>
            </a:r>
            <a:endParaRPr lang="es-CO" sz="1300" cap="all" dirty="0">
              <a:solidFill>
                <a:srgbClr val="ACA9A7"/>
              </a:solidFill>
              <a:effectLst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79755A8B-9A69-CAB6-3F20-3D410E446831}"/>
              </a:ext>
            </a:extLst>
          </p:cNvPr>
          <p:cNvSpPr txBox="1">
            <a:spLocks/>
          </p:cNvSpPr>
          <p:nvPr/>
        </p:nvSpPr>
        <p:spPr>
          <a:xfrm>
            <a:off x="4687823" y="4161099"/>
            <a:ext cx="5202965" cy="68839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CO" sz="1400" b="1" cap="all" dirty="0">
                <a:solidFill>
                  <a:srgbClr val="C9AA4D"/>
                </a:solidFill>
                <a:effectLst/>
              </a:rPr>
              <a:t>Auditoría completa</a:t>
            </a:r>
          </a:p>
          <a:p>
            <a:pPr marL="0" indent="0">
              <a:buFont typeface="Arial"/>
              <a:buNone/>
            </a:pPr>
            <a:r>
              <a:rPr lang="es-MX" sz="1300" cap="none" dirty="0">
                <a:solidFill>
                  <a:srgbClr val="ACA9A7"/>
                </a:solidFill>
                <a:effectLst/>
              </a:rPr>
              <a:t>Cada conversación y acción queda registrada. Revisable en cualquier momento.</a:t>
            </a:r>
            <a:endParaRPr lang="es-CO" sz="1300" cap="all" dirty="0">
              <a:solidFill>
                <a:srgbClr val="ACA9A7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8297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8458051" cy="770909"/>
          </a:xfrm>
        </p:spPr>
        <p:txBody>
          <a:bodyPr>
            <a:normAutofit fontScale="90000"/>
          </a:bodyPr>
          <a:lstStyle/>
          <a:p>
            <a:r>
              <a:rPr lang="es-CO" b="1" dirty="0">
                <a:effectLst/>
              </a:rPr>
              <a:t>La factura de la nube </a:t>
            </a:r>
            <a:r>
              <a:rPr lang="es-CO" b="1" dirty="0">
                <a:solidFill>
                  <a:srgbClr val="C9AA4D"/>
                </a:solidFill>
                <a:effectLst/>
              </a:rPr>
              <a:t>nunca se dispara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cap="all" dirty="0">
                <a:solidFill>
                  <a:srgbClr val="C9A94E"/>
                </a:solidFill>
                <a:effectLst/>
              </a:rPr>
              <a:t>Sin sorpresas</a:t>
            </a:r>
            <a:endParaRPr lang="es-CO" sz="1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5EC9AFA4-8CFC-4223-868D-574F207BBC41}"/>
              </a:ext>
            </a:extLst>
          </p:cNvPr>
          <p:cNvSpPr txBox="1">
            <a:spLocks/>
          </p:cNvSpPr>
          <p:nvPr/>
        </p:nvSpPr>
        <p:spPr>
          <a:xfrm>
            <a:off x="588234" y="2832046"/>
            <a:ext cx="10973714" cy="68839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CO" sz="1400" b="1" cap="all" dirty="0">
                <a:solidFill>
                  <a:srgbClr val="C9AA4D"/>
                </a:solidFill>
                <a:effectLst/>
              </a:rPr>
              <a:t>Topes de gasto automáticos</a:t>
            </a:r>
          </a:p>
          <a:p>
            <a:pPr marL="0" indent="0">
              <a:buFont typeface="Arial"/>
              <a:buNone/>
            </a:pPr>
            <a:r>
              <a:rPr lang="es-MX" sz="1300" cap="none" dirty="0">
                <a:solidFill>
                  <a:srgbClr val="ACA9A7"/>
                </a:solidFill>
                <a:effectLst/>
              </a:rPr>
              <a:t>Límites configurados en cada servicio. Si se alcanza el tope, el sistema avisa inmediatamente.</a:t>
            </a:r>
            <a:endParaRPr lang="es-CO" sz="1300" cap="all" dirty="0">
              <a:solidFill>
                <a:srgbClr val="ACA9A7"/>
              </a:solidFill>
              <a:effectLst/>
            </a:endParaRP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97FA7569-F799-3FC2-C021-D9F9E48D707B}"/>
              </a:ext>
            </a:extLst>
          </p:cNvPr>
          <p:cNvGrpSpPr/>
          <p:nvPr/>
        </p:nvGrpSpPr>
        <p:grpSpPr>
          <a:xfrm>
            <a:off x="609142" y="1664309"/>
            <a:ext cx="10973715" cy="871291"/>
            <a:chOff x="392277" y="1743893"/>
            <a:chExt cx="10973715" cy="871291"/>
          </a:xfrm>
        </p:grpSpPr>
        <p:sp>
          <p:nvSpPr>
            <p:cNvPr id="5" name="Marcador de contenido 2">
              <a:extLst>
                <a:ext uri="{FF2B5EF4-FFF2-40B4-BE49-F238E27FC236}">
                  <a16:creationId xmlns:a16="http://schemas.microsoft.com/office/drawing/2014/main" id="{9ACD9CFE-0E00-169E-EC65-71B6C11D7A1E}"/>
                </a:ext>
              </a:extLst>
            </p:cNvPr>
            <p:cNvSpPr txBox="1">
              <a:spLocks/>
            </p:cNvSpPr>
            <p:nvPr/>
          </p:nvSpPr>
          <p:spPr>
            <a:xfrm>
              <a:off x="392277" y="1743893"/>
              <a:ext cx="10973715" cy="871291"/>
            </a:xfrm>
            <a:prstGeom prst="roundRect">
              <a:avLst>
                <a:gd name="adj" fmla="val 4035"/>
              </a:avLst>
            </a:prstGeom>
            <a:solidFill>
              <a:srgbClr val="252E3C">
                <a:alpha val="50000"/>
              </a:srgbClr>
            </a:solidFill>
            <a:ln>
              <a:solidFill>
                <a:srgbClr val="343A3E"/>
              </a:solidFill>
            </a:ln>
          </p:spPr>
          <p:txBody>
            <a:bodyPr vert="horz" lIns="91440" tIns="45720" rIns="91440" bIns="45720" rtlCol="0" anchor="ctr">
              <a:normAutofit/>
            </a:bodyPr>
            <a:lstStyle>
              <a:lvl1pPr marL="2857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20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8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2pPr>
              <a:lvl3pPr marL="1200150" indent="-2857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6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3pPr>
              <a:lvl4pPr marL="15430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4pPr>
              <a:lvl5pPr marL="2000250" indent="-17145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4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spcAft>
                  <a:spcPts val="600"/>
                </a:spcAft>
                <a:buClr>
                  <a:schemeClr val="tx1"/>
                </a:buClr>
                <a:buSzPct val="100000"/>
                <a:buFont typeface="Arial"/>
                <a:buChar char="•"/>
                <a:defRPr sz="1200" kern="1200" cap="small">
                  <a:gradFill flip="none" rotWithShape="1">
                    <a:gsLst>
                      <a:gs pos="0">
                        <a:schemeClr val="tx1"/>
                      </a:gs>
                      <a:gs pos="100000">
                        <a:schemeClr val="tx1">
                          <a:lumMod val="75000"/>
                        </a:schemeClr>
                      </a:gs>
                    </a:gsLst>
                    <a:lin ang="5580000" scaled="0"/>
                    <a:tileRect/>
                  </a:gradFill>
                  <a:effectLst>
                    <a:glow rad="38100">
                      <a:schemeClr val="bg1">
                        <a:lumMod val="50000"/>
                        <a:lumOff val="50000"/>
                        <a:alpha val="20000"/>
                      </a:schemeClr>
                    </a:glow>
                    <a:outerShdw blurRad="44450" dist="12700" dir="13860000" algn="tl" rotWithShape="0">
                      <a:srgbClr val="000000">
                        <a:alpha val="20000"/>
                      </a:srgbClr>
                    </a:outerShdw>
                  </a:effectLst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/>
                <a:buNone/>
              </a:pPr>
              <a:endParaRPr lang="es-CO" sz="3600" b="1" cap="none" dirty="0">
                <a:solidFill>
                  <a:srgbClr val="6D7366"/>
                </a:solidFill>
                <a:effectLst/>
              </a:endParaRPr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B61A28C3-3C82-D61C-005C-B020816AF2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073" y="1890934"/>
              <a:ext cx="10840403" cy="6154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68F04F2B-D50E-E82C-3F4B-948B7DFEDE51}"/>
              </a:ext>
            </a:extLst>
          </p:cNvPr>
          <p:cNvSpPr txBox="1">
            <a:spLocks/>
          </p:cNvSpPr>
          <p:nvPr/>
        </p:nvSpPr>
        <p:spPr>
          <a:xfrm>
            <a:off x="609142" y="3721062"/>
            <a:ext cx="10973714" cy="68839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CO" sz="1400" b="1" cap="all" dirty="0">
                <a:solidFill>
                  <a:srgbClr val="C9AA4D"/>
                </a:solidFill>
                <a:effectLst/>
              </a:rPr>
              <a:t>Alertas escalonadas</a:t>
            </a:r>
          </a:p>
          <a:p>
            <a:pPr marL="0" indent="0">
              <a:buFont typeface="Arial"/>
              <a:buNone/>
            </a:pPr>
            <a:r>
              <a:rPr lang="es-MX" sz="1300" cap="none" dirty="0">
                <a:solidFill>
                  <a:srgbClr val="ACA9A7"/>
                </a:solidFill>
                <a:effectLst/>
              </a:rPr>
              <a:t>Notificaciones al 50%, 80% y 100% del presupuesto.</a:t>
            </a:r>
            <a:endParaRPr lang="es-CO" sz="1300" cap="all" dirty="0">
              <a:solidFill>
                <a:srgbClr val="ACA9A7"/>
              </a:solidFill>
              <a:effectLst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C3C301AE-87E5-2E9E-A796-839CCC065A63}"/>
              </a:ext>
            </a:extLst>
          </p:cNvPr>
          <p:cNvSpPr txBox="1">
            <a:spLocks/>
          </p:cNvSpPr>
          <p:nvPr/>
        </p:nvSpPr>
        <p:spPr>
          <a:xfrm>
            <a:off x="609143" y="4691453"/>
            <a:ext cx="10973714" cy="688395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s-CO" sz="1400" b="1" cap="all" dirty="0">
                <a:solidFill>
                  <a:srgbClr val="C9AA4D"/>
                </a:solidFill>
                <a:effectLst/>
              </a:rPr>
              <a:t>Optimización continua</a:t>
            </a:r>
          </a:p>
          <a:p>
            <a:pPr marL="0" indent="0">
              <a:buFont typeface="Arial"/>
              <a:buNone/>
            </a:pPr>
            <a:r>
              <a:rPr lang="es-MX" sz="1300" cap="none" dirty="0">
                <a:solidFill>
                  <a:srgbClr val="ACA9A7"/>
                </a:solidFill>
                <a:effectLst/>
              </a:rPr>
              <a:t>El sistema se monitorea para identificar oportunidades de ahorro sin sacrificar rendimiento.</a:t>
            </a:r>
            <a:endParaRPr lang="es-CO" sz="1300" cap="all" dirty="0">
              <a:solidFill>
                <a:srgbClr val="ACA9A7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184204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71328-1422-08C3-425F-4E2322B7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647" y="893400"/>
            <a:ext cx="8458051" cy="770909"/>
          </a:xfrm>
        </p:spPr>
        <p:txBody>
          <a:bodyPr>
            <a:normAutofit/>
          </a:bodyPr>
          <a:lstStyle/>
          <a:p>
            <a:r>
              <a:rPr lang="es-CO" b="1" dirty="0">
                <a:effectLst/>
              </a:rPr>
              <a:t>Todo lo que Entregamos</a:t>
            </a:r>
            <a:endParaRPr lang="es-CO" b="1" dirty="0">
              <a:solidFill>
                <a:srgbClr val="C9AA4D"/>
              </a:solidFill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4AE4C90-82E4-2CD9-38DA-4C0A6E20C84E}"/>
              </a:ext>
            </a:extLst>
          </p:cNvPr>
          <p:cNvSpPr txBox="1">
            <a:spLocks/>
          </p:cNvSpPr>
          <p:nvPr/>
        </p:nvSpPr>
        <p:spPr>
          <a:xfrm>
            <a:off x="158647" y="731520"/>
            <a:ext cx="3416657" cy="405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O" sz="1400" b="1" i="0" cap="all" dirty="0">
                <a:solidFill>
                  <a:srgbClr val="C9A94E"/>
                </a:solidFill>
                <a:effectLst/>
              </a:rPr>
              <a:t>Independencia</a:t>
            </a:r>
            <a:endParaRPr lang="es-CO" sz="1400" b="1" dirty="0">
              <a:solidFill>
                <a:srgbClr val="C9AA4D"/>
              </a:solidFill>
              <a:cs typeface="Courier New" panose="02070309020205020404" pitchFamily="49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0A26153-1CD0-55B7-3D7A-F16CD8E4C746}"/>
              </a:ext>
            </a:extLst>
          </p:cNvPr>
          <p:cNvSpPr txBox="1">
            <a:spLocks/>
          </p:cNvSpPr>
          <p:nvPr/>
        </p:nvSpPr>
        <p:spPr>
          <a:xfrm>
            <a:off x="1014835" y="2196173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CO" sz="1600" b="1" cap="none" dirty="0">
                <a:solidFill>
                  <a:srgbClr val="ACA9A7"/>
                </a:solidFill>
                <a:effectLst/>
              </a:rPr>
              <a:t>Manuales de operación</a:t>
            </a:r>
          </a:p>
          <a:p>
            <a:pPr marL="0" indent="0" algn="ctr">
              <a:buFont typeface="Arial"/>
              <a:buNone/>
            </a:pPr>
            <a:r>
              <a:rPr lang="es-MX" sz="1400" b="1" cap="none" dirty="0">
                <a:solidFill>
                  <a:srgbClr val="797C75"/>
                </a:solidFill>
                <a:effectLst/>
              </a:rPr>
              <a:t>Guías paso a paso. Lenguaje simple.</a:t>
            </a:r>
            <a:endParaRPr lang="es-CO" sz="1200" cap="none" dirty="0">
              <a:solidFill>
                <a:srgbClr val="797C75"/>
              </a:solidFill>
              <a:effectLst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C660FB43-3179-D9ED-3A1E-B3A752BBCF38}"/>
              </a:ext>
            </a:extLst>
          </p:cNvPr>
          <p:cNvSpPr txBox="1">
            <a:spLocks/>
          </p:cNvSpPr>
          <p:nvPr/>
        </p:nvSpPr>
        <p:spPr>
          <a:xfrm>
            <a:off x="6096000" y="2196173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CO" sz="1600" b="1" cap="none" dirty="0">
                <a:solidFill>
                  <a:srgbClr val="ACA9A7"/>
                </a:solidFill>
                <a:effectLst/>
              </a:rPr>
              <a:t>Planos de arquitectura</a:t>
            </a:r>
          </a:p>
          <a:p>
            <a:pPr marL="0" indent="0" algn="ctr">
              <a:buFont typeface="Arial"/>
              <a:buNone/>
            </a:pPr>
            <a:r>
              <a:rPr lang="es-MX" sz="1400" b="1" cap="none" dirty="0">
                <a:solidFill>
                  <a:srgbClr val="797C75"/>
                </a:solidFill>
                <a:effectLst/>
              </a:rPr>
              <a:t>Diagramas del sistema completo.</a:t>
            </a:r>
            <a:endParaRPr lang="es-CO" sz="1200" cap="none" dirty="0">
              <a:solidFill>
                <a:srgbClr val="797C75"/>
              </a:solidFill>
              <a:effectLst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1405DA33-858F-3665-E404-E164FDC44875}"/>
              </a:ext>
            </a:extLst>
          </p:cNvPr>
          <p:cNvSpPr txBox="1">
            <a:spLocks/>
          </p:cNvSpPr>
          <p:nvPr/>
        </p:nvSpPr>
        <p:spPr>
          <a:xfrm>
            <a:off x="3575304" y="3906104"/>
            <a:ext cx="4737939" cy="1298448"/>
          </a:xfrm>
          <a:prstGeom prst="roundRect">
            <a:avLst/>
          </a:prstGeom>
          <a:solidFill>
            <a:srgbClr val="252E3C"/>
          </a:solidFill>
          <a:ln>
            <a:solidFill>
              <a:srgbClr val="343A3E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s-CO" sz="1600" b="1" cap="none" dirty="0">
                <a:solidFill>
                  <a:srgbClr val="ACA9A7"/>
                </a:solidFill>
                <a:effectLst/>
              </a:rPr>
              <a:t>Protocolos de seguridad</a:t>
            </a:r>
          </a:p>
          <a:p>
            <a:pPr marL="0" indent="0" algn="ctr">
              <a:buFont typeface="Arial"/>
              <a:buNone/>
            </a:pPr>
            <a:r>
              <a:rPr lang="es-MX" sz="1400" b="1" cap="none" dirty="0">
                <a:solidFill>
                  <a:srgbClr val="797C75"/>
                </a:solidFill>
                <a:effectLst/>
              </a:rPr>
              <a:t>Para auditorías y cumplimiento legal.</a:t>
            </a:r>
            <a:endParaRPr lang="es-CO" sz="1200" cap="none" dirty="0">
              <a:solidFill>
                <a:srgbClr val="797C75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5395226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lla">
  <a:themeElements>
    <a:clrScheme name="Malla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alla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all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285</TotalTime>
  <Words>946</Words>
  <Application>Microsoft Office PowerPoint</Application>
  <PresentationFormat>Panorámica</PresentationFormat>
  <Paragraphs>161</Paragraphs>
  <Slides>14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1" baseType="lpstr">
      <vt:lpstr>Aptos</vt:lpstr>
      <vt:lpstr>Arial</vt:lpstr>
      <vt:lpstr>Century Gothic</vt:lpstr>
      <vt:lpstr>Courier New</vt:lpstr>
      <vt:lpstr>Figtree</vt:lpstr>
      <vt:lpstr>Wingdings</vt:lpstr>
      <vt:lpstr>Malla</vt:lpstr>
      <vt:lpstr>TECNOLOGÍA CON PROPÓSITO</vt:lpstr>
      <vt:lpstr>DOS CANALES, UN SOLO CEREBRO</vt:lpstr>
      <vt:lpstr>FORMAS DE IMPLEMENTARLO</vt:lpstr>
      <vt:lpstr>COMUNICACIÓN BLINDADA</vt:lpstr>
      <vt:lpstr>¿Servidores Físicos o nube?</vt:lpstr>
      <vt:lpstr>¿Cuánto cuesta aws por mes?</vt:lpstr>
      <vt:lpstr>En horas muertas, el costo se reduce</vt:lpstr>
      <vt:lpstr>Caché semántico: -68% en IA</vt:lpstr>
      <vt:lpstr>Cada pregunta gasta justo lo necesario</vt:lpstr>
      <vt:lpstr>Los datos del cliente nunca se exponen</vt:lpstr>
      <vt:lpstr>Disponibilidad y tiempos de respuesta</vt:lpstr>
      <vt:lpstr>Monitoreo 24/7, alertas tempranas</vt:lpstr>
      <vt:lpstr>La factura de la nube nunca se dispara</vt:lpstr>
      <vt:lpstr>Todo lo que Entregamos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Rueda Lucuara, John Anderson</dc:creator>
  <cp:lastModifiedBy>JOHN ANDERSON RUEDA LUCUARA</cp:lastModifiedBy>
  <cp:revision>3</cp:revision>
  <dcterms:created xsi:type="dcterms:W3CDTF">2026-06-27T00:03:34Z</dcterms:created>
  <dcterms:modified xsi:type="dcterms:W3CDTF">2026-06-27T14:25:08Z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82c6a86-56a5-4c89-a486-a9664f1faf4b_Enabled">
    <vt:lpwstr>true</vt:lpwstr>
  </property>
  <property fmtid="{D5CDD505-2E9C-101B-9397-08002B2CF9AE}" pid="3" name="MSIP_Label_782c6a86-56a5-4c89-a486-a9664f1faf4b_SetDate">
    <vt:lpwstr>2026-06-27T00:18:22Z</vt:lpwstr>
  </property>
  <property fmtid="{D5CDD505-2E9C-101B-9397-08002B2CF9AE}" pid="4" name="MSIP_Label_782c6a86-56a5-4c89-a486-a9664f1faf4b_Method">
    <vt:lpwstr>Standard</vt:lpwstr>
  </property>
  <property fmtid="{D5CDD505-2E9C-101B-9397-08002B2CF9AE}" pid="5" name="MSIP_Label_782c6a86-56a5-4c89-a486-a9664f1faf4b_Name">
    <vt:lpwstr>Corporativa BdB</vt:lpwstr>
  </property>
  <property fmtid="{D5CDD505-2E9C-101B-9397-08002B2CF9AE}" pid="6" name="MSIP_Label_782c6a86-56a5-4c89-a486-a9664f1faf4b_SiteId">
    <vt:lpwstr>daa4d0ab-0563-4108-9916-441c45c84ae9</vt:lpwstr>
  </property>
  <property fmtid="{D5CDD505-2E9C-101B-9397-08002B2CF9AE}" pid="7" name="MSIP_Label_782c6a86-56a5-4c89-a486-a9664f1faf4b_ActionId">
    <vt:lpwstr>c80030da-ee7b-401d-bb70-f5e18baf991e</vt:lpwstr>
  </property>
  <property fmtid="{D5CDD505-2E9C-101B-9397-08002B2CF9AE}" pid="8" name="MSIP_Label_782c6a86-56a5-4c89-a486-a9664f1faf4b_ContentBits">
    <vt:lpwstr>0</vt:lpwstr>
  </property>
  <property fmtid="{D5CDD505-2E9C-101B-9397-08002B2CF9AE}" pid="9" name="MSIP_Label_782c6a86-56a5-4c89-a486-a9664f1faf4b_Tag">
    <vt:lpwstr>50, 3, 0, 1</vt:lpwstr>
  </property>
</Properties>
</file>